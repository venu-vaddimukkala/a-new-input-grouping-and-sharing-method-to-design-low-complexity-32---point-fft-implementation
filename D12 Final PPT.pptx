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9" r:id="rId4"/>
    <p:sldId id="258" r:id="rId5"/>
    <p:sldId id="260" r:id="rId6"/>
    <p:sldId id="263" r:id="rId7"/>
    <p:sldId id="264" r:id="rId8"/>
    <p:sldId id="265" r:id="rId9"/>
    <p:sldId id="270" r:id="rId10"/>
    <p:sldId id="272" r:id="rId11"/>
    <p:sldId id="261" r:id="rId12"/>
    <p:sldId id="268" r:id="rId13"/>
    <p:sldId id="277" r:id="rId14"/>
    <p:sldId id="278" r:id="rId15"/>
    <p:sldId id="273" r:id="rId16"/>
    <p:sldId id="271" r:id="rId17"/>
    <p:sldId id="274" r:id="rId18"/>
    <p:sldId id="275" r:id="rId19"/>
    <p:sldId id="279" r:id="rId20"/>
    <p:sldId id="269" r:id="rId21"/>
    <p:sldId id="280" r:id="rId22"/>
    <p:sldId id="276" r:id="rId23"/>
    <p:sldId id="281" r:id="rId24"/>
    <p:sldId id="262" r:id="rId25"/>
  </p:sldIdLst>
  <p:sldSz cx="14630400" cy="8229600"/>
  <p:notesSz cx="8229600" cy="14630400"/>
  <p:embeddedFontLst>
    <p:embeddedFont>
      <p:font typeface="Merriweather" panose="00000500000000000000" pitchFamily="2"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F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5AD6D-CCFD-4086-AC23-E41E1B191745}" v="35" dt="2026-04-24T05:33:39.7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7" autoAdjust="0"/>
    <p:restoredTop sz="94610"/>
  </p:normalViewPr>
  <p:slideViewPr>
    <p:cSldViewPr snapToGrid="0" snapToObjects="1">
      <p:cViewPr varScale="1">
        <p:scale>
          <a:sx n="69" d="100"/>
          <a:sy n="69" d="100"/>
        </p:scale>
        <p:origin x="4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vaddimukkala" userId="b3b1089273efeb7e" providerId="LiveId" clId="{0FCFCA1F-5405-4D78-92C3-11E00B9331A3}"/>
    <pc:docChg chg="undo redo custSel addSld modSld sldOrd">
      <pc:chgData name="venu vaddimukkala" userId="b3b1089273efeb7e" providerId="LiveId" clId="{0FCFCA1F-5405-4D78-92C3-11E00B9331A3}" dt="2026-04-24T05:39:36.689" v="536" actId="20577"/>
      <pc:docMkLst>
        <pc:docMk/>
      </pc:docMkLst>
      <pc:sldChg chg="modSp mod">
        <pc:chgData name="venu vaddimukkala" userId="b3b1089273efeb7e" providerId="LiveId" clId="{0FCFCA1F-5405-4D78-92C3-11E00B9331A3}" dt="2026-04-23T17:50:07.631" v="499" actId="20577"/>
        <pc:sldMkLst>
          <pc:docMk/>
          <pc:sldMk cId="0" sldId="256"/>
        </pc:sldMkLst>
        <pc:spChg chg="mod">
          <ac:chgData name="venu vaddimukkala" userId="b3b1089273efeb7e" providerId="LiveId" clId="{0FCFCA1F-5405-4D78-92C3-11E00B9331A3}" dt="2026-04-23T17:50:07.631" v="499" actId="20577"/>
          <ac:spMkLst>
            <pc:docMk/>
            <pc:sldMk cId="0" sldId="256"/>
            <ac:spMk id="4" creationId="{00000000-0000-0000-0000-000000000000}"/>
          </ac:spMkLst>
        </pc:spChg>
      </pc:sldChg>
      <pc:sldChg chg="modSp mod">
        <pc:chgData name="venu vaddimukkala" userId="b3b1089273efeb7e" providerId="LiveId" clId="{0FCFCA1F-5405-4D78-92C3-11E00B9331A3}" dt="2026-04-21T04:51:03.671" v="442" actId="1076"/>
        <pc:sldMkLst>
          <pc:docMk/>
          <pc:sldMk cId="0" sldId="257"/>
        </pc:sldMkLst>
        <pc:spChg chg="mod">
          <ac:chgData name="venu vaddimukkala" userId="b3b1089273efeb7e" providerId="LiveId" clId="{0FCFCA1F-5405-4D78-92C3-11E00B9331A3}" dt="2026-04-21T04:51:03.671" v="442" actId="1076"/>
          <ac:spMkLst>
            <pc:docMk/>
            <pc:sldMk cId="0" sldId="257"/>
            <ac:spMk id="7" creationId="{00000000-0000-0000-0000-000000000000}"/>
          </ac:spMkLst>
        </pc:spChg>
      </pc:sldChg>
      <pc:sldChg chg="modSp mod">
        <pc:chgData name="venu vaddimukkala" userId="b3b1089273efeb7e" providerId="LiveId" clId="{0FCFCA1F-5405-4D78-92C3-11E00B9331A3}" dt="2026-03-29T09:40:02.150" v="0" actId="1036"/>
        <pc:sldMkLst>
          <pc:docMk/>
          <pc:sldMk cId="0" sldId="259"/>
        </pc:sldMkLst>
        <pc:picChg chg="mod">
          <ac:chgData name="venu vaddimukkala" userId="b3b1089273efeb7e" providerId="LiveId" clId="{0FCFCA1F-5405-4D78-92C3-11E00B9331A3}" dt="2026-03-29T09:40:02.150" v="0" actId="1036"/>
          <ac:picMkLst>
            <pc:docMk/>
            <pc:sldMk cId="0" sldId="259"/>
            <ac:picMk id="4" creationId="{00000000-0000-0000-0000-000000000000}"/>
          </ac:picMkLst>
        </pc:picChg>
      </pc:sldChg>
      <pc:sldChg chg="delSp mod">
        <pc:chgData name="venu vaddimukkala" userId="b3b1089273efeb7e" providerId="LiveId" clId="{0FCFCA1F-5405-4D78-92C3-11E00B9331A3}" dt="2026-03-31T01:17:57.595" v="7" actId="478"/>
        <pc:sldMkLst>
          <pc:docMk/>
          <pc:sldMk cId="0" sldId="261"/>
        </pc:sldMkLst>
      </pc:sldChg>
      <pc:sldChg chg="ord">
        <pc:chgData name="venu vaddimukkala" userId="b3b1089273efeb7e" providerId="LiveId" clId="{0FCFCA1F-5405-4D78-92C3-11E00B9331A3}" dt="2026-04-19T17:44:57.178" v="437"/>
        <pc:sldMkLst>
          <pc:docMk/>
          <pc:sldMk cId="0" sldId="262"/>
        </pc:sldMkLst>
      </pc:sldChg>
      <pc:sldChg chg="modSp mod">
        <pc:chgData name="venu vaddimukkala" userId="b3b1089273efeb7e" providerId="LiveId" clId="{0FCFCA1F-5405-4D78-92C3-11E00B9331A3}" dt="2026-03-29T10:30:51.983" v="3" actId="1076"/>
        <pc:sldMkLst>
          <pc:docMk/>
          <pc:sldMk cId="2736028371" sldId="263"/>
        </pc:sldMkLst>
        <pc:picChg chg="mod">
          <ac:chgData name="venu vaddimukkala" userId="b3b1089273efeb7e" providerId="LiveId" clId="{0FCFCA1F-5405-4D78-92C3-11E00B9331A3}" dt="2026-03-29T10:30:51.983" v="3" actId="1076"/>
          <ac:picMkLst>
            <pc:docMk/>
            <pc:sldMk cId="2736028371" sldId="263"/>
            <ac:picMk id="5" creationId="{6D5AAED5-12D4-B327-BEF3-22BD47A10E60}"/>
          </ac:picMkLst>
        </pc:picChg>
      </pc:sldChg>
      <pc:sldChg chg="addSp delSp modSp mod">
        <pc:chgData name="venu vaddimukkala" userId="b3b1089273efeb7e" providerId="LiveId" clId="{0FCFCA1F-5405-4D78-92C3-11E00B9331A3}" dt="2026-04-24T05:34:05.724" v="522" actId="1076"/>
        <pc:sldMkLst>
          <pc:docMk/>
          <pc:sldMk cId="1545010986" sldId="264"/>
        </pc:sldMkLst>
        <pc:spChg chg="add del">
          <ac:chgData name="venu vaddimukkala" userId="b3b1089273efeb7e" providerId="LiveId" clId="{0FCFCA1F-5405-4D78-92C3-11E00B9331A3}" dt="2026-04-24T05:33:17.329" v="513" actId="478"/>
          <ac:spMkLst>
            <pc:docMk/>
            <pc:sldMk cId="1545010986" sldId="264"/>
            <ac:spMk id="2" creationId="{3B1802AD-331A-6EA2-1972-897BE33DBF0C}"/>
          </ac:spMkLst>
        </pc:spChg>
        <pc:spChg chg="add">
          <ac:chgData name="venu vaddimukkala" userId="b3b1089273efeb7e" providerId="LiveId" clId="{0FCFCA1F-5405-4D78-92C3-11E00B9331A3}" dt="2026-04-24T05:33:36.405" v="514"/>
          <ac:spMkLst>
            <pc:docMk/>
            <pc:sldMk cId="1545010986" sldId="264"/>
            <ac:spMk id="3" creationId="{1921CC2B-D17D-7E4F-9655-386BA048A669}"/>
          </ac:spMkLst>
        </pc:spChg>
        <pc:spChg chg="add del mod">
          <ac:chgData name="venu vaddimukkala" userId="b3b1089273efeb7e" providerId="LiveId" clId="{0FCFCA1F-5405-4D78-92C3-11E00B9331A3}" dt="2026-04-24T00:21:06.178" v="504" actId="478"/>
          <ac:spMkLst>
            <pc:docMk/>
            <pc:sldMk cId="1545010986" sldId="264"/>
            <ac:spMk id="3" creationId="{E85696F9-9930-2548-E442-0C4E13206D77}"/>
          </ac:spMkLst>
        </pc:spChg>
        <pc:spChg chg="mod">
          <ac:chgData name="venu vaddimukkala" userId="b3b1089273efeb7e" providerId="LiveId" clId="{0FCFCA1F-5405-4D78-92C3-11E00B9331A3}" dt="2026-04-23T16:20:34.768" v="443" actId="20577"/>
          <ac:spMkLst>
            <pc:docMk/>
            <pc:sldMk cId="1545010986" sldId="264"/>
            <ac:spMk id="4" creationId="{6D2272AB-65B0-05A1-061B-F6D24BEF01BD}"/>
          </ac:spMkLst>
        </pc:spChg>
        <pc:picChg chg="del mod">
          <ac:chgData name="venu vaddimukkala" userId="b3b1089273efeb7e" providerId="LiveId" clId="{0FCFCA1F-5405-4D78-92C3-11E00B9331A3}" dt="2026-04-24T00:20:57.456" v="501" actId="478"/>
          <ac:picMkLst>
            <pc:docMk/>
            <pc:sldMk cId="1545010986" sldId="264"/>
            <ac:picMk id="2" creationId="{56927706-3915-7635-0A9A-1FEFA6B3C67B}"/>
          </ac:picMkLst>
        </pc:picChg>
        <pc:picChg chg="add del mod">
          <ac:chgData name="venu vaddimukkala" userId="b3b1089273efeb7e" providerId="LiveId" clId="{0FCFCA1F-5405-4D78-92C3-11E00B9331A3}" dt="2026-04-24T05:33:13.872" v="511" actId="478"/>
          <ac:picMkLst>
            <pc:docMk/>
            <pc:sldMk cId="1545010986" sldId="264"/>
            <ac:picMk id="6" creationId="{C784CDE9-A930-64B9-B65A-0D2F5B39D903}"/>
          </ac:picMkLst>
        </pc:picChg>
        <pc:picChg chg="add mod modCrop">
          <ac:chgData name="venu vaddimukkala" userId="b3b1089273efeb7e" providerId="LiveId" clId="{0FCFCA1F-5405-4D78-92C3-11E00B9331A3}" dt="2026-04-24T05:34:05.724" v="522" actId="1076"/>
          <ac:picMkLst>
            <pc:docMk/>
            <pc:sldMk cId="1545010986" sldId="264"/>
            <ac:picMk id="7" creationId="{8DEA18A3-E37F-20EC-9C64-EBF799A24F83}"/>
          </ac:picMkLst>
        </pc:picChg>
      </pc:sldChg>
      <pc:sldChg chg="modSp mod">
        <pc:chgData name="venu vaddimukkala" userId="b3b1089273efeb7e" providerId="LiveId" clId="{0FCFCA1F-5405-4D78-92C3-11E00B9331A3}" dt="2026-03-31T01:18:17.196" v="8" actId="1076"/>
        <pc:sldMkLst>
          <pc:docMk/>
          <pc:sldMk cId="612526108" sldId="265"/>
        </pc:sldMkLst>
        <pc:spChg chg="mod">
          <ac:chgData name="venu vaddimukkala" userId="b3b1089273efeb7e" providerId="LiveId" clId="{0FCFCA1F-5405-4D78-92C3-11E00B9331A3}" dt="2026-03-31T01:18:17.196" v="8" actId="1076"/>
          <ac:spMkLst>
            <pc:docMk/>
            <pc:sldMk cId="612526108" sldId="265"/>
            <ac:spMk id="3" creationId="{4960DC16-FE4F-6043-2984-487730D7A666}"/>
          </ac:spMkLst>
        </pc:spChg>
      </pc:sldChg>
      <pc:sldChg chg="addSp modSp mod">
        <pc:chgData name="venu vaddimukkala" userId="b3b1089273efeb7e" providerId="LiveId" clId="{0FCFCA1F-5405-4D78-92C3-11E00B9331A3}" dt="2026-04-19T17:45:24.017" v="440" actId="1076"/>
        <pc:sldMkLst>
          <pc:docMk/>
          <pc:sldMk cId="2827641835" sldId="276"/>
        </pc:sldMkLst>
        <pc:spChg chg="mod">
          <ac:chgData name="venu vaddimukkala" userId="b3b1089273efeb7e" providerId="LiveId" clId="{0FCFCA1F-5405-4D78-92C3-11E00B9331A3}" dt="2026-04-19T17:45:14.508" v="438" actId="1076"/>
          <ac:spMkLst>
            <pc:docMk/>
            <pc:sldMk cId="2827641835" sldId="276"/>
            <ac:spMk id="5" creationId="{CA8FB4EF-C0D6-6167-F724-156A891D9DAC}"/>
          </ac:spMkLst>
        </pc:spChg>
        <pc:picChg chg="mod">
          <ac:chgData name="venu vaddimukkala" userId="b3b1089273efeb7e" providerId="LiveId" clId="{0FCFCA1F-5405-4D78-92C3-11E00B9331A3}" dt="2026-04-19T17:45:24.017" v="440" actId="1076"/>
          <ac:picMkLst>
            <pc:docMk/>
            <pc:sldMk cId="2827641835" sldId="276"/>
            <ac:picMk id="6" creationId="{3BEF0A66-76E7-987C-4821-59A1A2E17107}"/>
          </ac:picMkLst>
        </pc:picChg>
      </pc:sldChg>
      <pc:sldChg chg="addSp delSp modSp new mod ord setBg modClrScheme chgLayout">
        <pc:chgData name="venu vaddimukkala" userId="b3b1089273efeb7e" providerId="LiveId" clId="{0FCFCA1F-5405-4D78-92C3-11E00B9331A3}" dt="2026-04-24T05:39:36.689" v="536" actId="20577"/>
        <pc:sldMkLst>
          <pc:docMk/>
          <pc:sldMk cId="4217616718" sldId="280"/>
        </pc:sldMkLst>
        <pc:spChg chg="add mod">
          <ac:chgData name="venu vaddimukkala" userId="b3b1089273efeb7e" providerId="LiveId" clId="{0FCFCA1F-5405-4D78-92C3-11E00B9331A3}" dt="2026-04-19T17:24:02.974" v="158" actId="1076"/>
          <ac:spMkLst>
            <pc:docMk/>
            <pc:sldMk cId="4217616718" sldId="280"/>
            <ac:spMk id="3" creationId="{5D15380F-C7C8-8DA6-EDED-E61EA399EFE0}"/>
          </ac:spMkLst>
        </pc:spChg>
        <pc:spChg chg="add mod">
          <ac:chgData name="venu vaddimukkala" userId="b3b1089273efeb7e" providerId="LiveId" clId="{0FCFCA1F-5405-4D78-92C3-11E00B9331A3}" dt="2026-04-23T17:17:12.207" v="476" actId="20577"/>
          <ac:spMkLst>
            <pc:docMk/>
            <pc:sldMk cId="4217616718" sldId="280"/>
            <ac:spMk id="6" creationId="{74BCE8D2-186F-B067-3E0E-930D584994B9}"/>
          </ac:spMkLst>
        </pc:spChg>
        <pc:spChg chg="add mod">
          <ac:chgData name="venu vaddimukkala" userId="b3b1089273efeb7e" providerId="LiveId" clId="{0FCFCA1F-5405-4D78-92C3-11E00B9331A3}" dt="2026-04-24T05:39:36.689" v="536" actId="20577"/>
          <ac:spMkLst>
            <pc:docMk/>
            <pc:sldMk cId="4217616718" sldId="280"/>
            <ac:spMk id="8" creationId="{4910B0FB-DFE5-A81E-DBBE-0008E013C208}"/>
          </ac:spMkLst>
        </pc:spChg>
      </pc:sldChg>
      <pc:sldChg chg="addSp modSp new mod setBg modClrScheme chgLayout">
        <pc:chgData name="venu vaddimukkala" userId="b3b1089273efeb7e" providerId="LiveId" clId="{0FCFCA1F-5405-4D78-92C3-11E00B9331A3}" dt="2026-04-19T17:43:25.802" v="404" actId="14100"/>
        <pc:sldMkLst>
          <pc:docMk/>
          <pc:sldMk cId="1611912929" sldId="281"/>
        </pc:sldMkLst>
        <pc:spChg chg="add mod">
          <ac:chgData name="venu vaddimukkala" userId="b3b1089273efeb7e" providerId="LiveId" clId="{0FCFCA1F-5405-4D78-92C3-11E00B9331A3}" dt="2026-04-19T17:36:31.869" v="337" actId="1076"/>
          <ac:spMkLst>
            <pc:docMk/>
            <pc:sldMk cId="1611912929" sldId="281"/>
            <ac:spMk id="3" creationId="{27B7FEC2-9566-DE84-561B-8547F48AB376}"/>
          </ac:spMkLst>
        </pc:spChg>
        <pc:spChg chg="add mod">
          <ac:chgData name="venu vaddimukkala" userId="b3b1089273efeb7e" providerId="LiveId" clId="{0FCFCA1F-5405-4D78-92C3-11E00B9331A3}" dt="2026-04-19T17:43:25.802" v="404" actId="14100"/>
          <ac:spMkLst>
            <pc:docMk/>
            <pc:sldMk cId="1611912929" sldId="281"/>
            <ac:spMk id="4" creationId="{4EB67550-815D-03C3-BF35-3EB591CD6BC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5190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1932903" y="399317"/>
            <a:ext cx="10764594" cy="2037754"/>
          </a:xfrm>
          <a:prstGeom prst="rect">
            <a:avLst/>
          </a:prstGeom>
          <a:noFill/>
          <a:ln/>
        </p:spPr>
        <p:txBody>
          <a:bodyPr wrap="square" lIns="0" tIns="0" rIns="0" bIns="0" rtlCol="0" anchor="t"/>
          <a:lstStyle/>
          <a:p>
            <a:pPr marL="0" indent="0" algn="ctr">
              <a:lnSpc>
                <a:spcPts val="5050"/>
              </a:lnSpc>
              <a:buNone/>
            </a:pPr>
            <a:r>
              <a:rPr lang="en-US" sz="3000" dirty="0">
                <a:solidFill>
                  <a:srgbClr val="F5F0F0"/>
                </a:solidFill>
                <a:latin typeface="Merriweather" pitchFamily="34" charset="0"/>
                <a:ea typeface="Merriweather" pitchFamily="34" charset="-122"/>
                <a:cs typeface="Merriweather" pitchFamily="34" charset="-120"/>
              </a:rPr>
              <a:t>A New Input Grouping and Sharing Method to Design Low Complexity 32 - Point FFT Implementation</a:t>
            </a:r>
          </a:p>
          <a:p>
            <a:pPr marL="0" indent="0" algn="ctr">
              <a:lnSpc>
                <a:spcPts val="5050"/>
              </a:lnSpc>
              <a:buNone/>
            </a:pPr>
            <a:endParaRPr lang="en-US" sz="3000" dirty="0">
              <a:solidFill>
                <a:srgbClr val="F5F0F0"/>
              </a:solidFill>
              <a:latin typeface="Merriweather" pitchFamily="34" charset="0"/>
            </a:endParaRPr>
          </a:p>
          <a:p>
            <a:pPr marL="0" indent="0" algn="ctr">
              <a:lnSpc>
                <a:spcPts val="5050"/>
              </a:lnSpc>
              <a:buNone/>
            </a:pPr>
            <a:endParaRPr lang="en-US" sz="3000" dirty="0"/>
          </a:p>
        </p:txBody>
      </p:sp>
      <p:sp>
        <p:nvSpPr>
          <p:cNvPr id="4" name="Text 2"/>
          <p:cNvSpPr/>
          <p:nvPr/>
        </p:nvSpPr>
        <p:spPr>
          <a:xfrm>
            <a:off x="5893056" y="1945446"/>
            <a:ext cx="2981043" cy="1890915"/>
          </a:xfrm>
          <a:prstGeom prst="rect">
            <a:avLst/>
          </a:prstGeom>
          <a:noFill/>
          <a:ln/>
        </p:spPr>
        <p:txBody>
          <a:bodyPr wrap="none" lIns="0" tIns="0" rIns="0" bIns="0" rtlCol="0" anchor="t"/>
          <a:lstStyle/>
          <a:p>
            <a:pPr>
              <a:lnSpc>
                <a:spcPts val="2050"/>
              </a:lnSpc>
            </a:pPr>
            <a:r>
              <a:rPr lang="en-US" sz="1400" b="1" dirty="0">
                <a:solidFill>
                  <a:srgbClr val="E2E6E9"/>
                </a:solidFill>
                <a:latin typeface="Merriweather" pitchFamily="34" charset="0"/>
                <a:ea typeface="Merriweather" pitchFamily="34" charset="-122"/>
                <a:cs typeface="Merriweather" pitchFamily="34" charset="-120"/>
              </a:rPr>
              <a:t>                  Presented by :</a:t>
            </a:r>
          </a:p>
          <a:p>
            <a:pPr>
              <a:lnSpc>
                <a:spcPts val="2050"/>
              </a:lnSpc>
            </a:pPr>
            <a:r>
              <a:rPr lang="en-US" sz="1400" dirty="0">
                <a:solidFill>
                  <a:srgbClr val="E2E6E9"/>
                </a:solidFill>
                <a:latin typeface="Merriweather" pitchFamily="34" charset="0"/>
                <a:ea typeface="Merriweather" pitchFamily="34" charset="-122"/>
                <a:cs typeface="Merriweather" pitchFamily="34" charset="-120"/>
              </a:rPr>
              <a:t> </a:t>
            </a:r>
          </a:p>
          <a:p>
            <a:pPr>
              <a:lnSpc>
                <a:spcPts val="2050"/>
              </a:lnSpc>
            </a:pPr>
            <a:r>
              <a:rPr lang="en-US" sz="1400" b="1" dirty="0">
                <a:solidFill>
                  <a:srgbClr val="E2E6E9"/>
                </a:solidFill>
                <a:latin typeface="Merriweather" pitchFamily="34" charset="0"/>
                <a:ea typeface="Merriweather" pitchFamily="34" charset="-122"/>
                <a:cs typeface="Merriweather" pitchFamily="34" charset="-120"/>
              </a:rPr>
              <a:t> V</a:t>
            </a:r>
            <a:r>
              <a:rPr lang="en-US" sz="1400" dirty="0">
                <a:solidFill>
                  <a:srgbClr val="E2E6E9"/>
                </a:solidFill>
                <a:latin typeface="Merriweather" pitchFamily="34" charset="0"/>
                <a:ea typeface="Merriweather" pitchFamily="34" charset="-122"/>
                <a:cs typeface="Merriweather" pitchFamily="34" charset="-120"/>
              </a:rPr>
              <a:t>. </a:t>
            </a:r>
            <a:r>
              <a:rPr lang="en-US" sz="1400" b="1" dirty="0">
                <a:solidFill>
                  <a:srgbClr val="E2E6E9"/>
                </a:solidFill>
                <a:latin typeface="Merriweather" pitchFamily="34" charset="0"/>
                <a:ea typeface="Merriweather" pitchFamily="34" charset="-122"/>
                <a:cs typeface="Merriweather" pitchFamily="34" charset="-120"/>
              </a:rPr>
              <a:t>Venu</a:t>
            </a:r>
            <a:r>
              <a:rPr lang="en-US" sz="1400" dirty="0">
                <a:solidFill>
                  <a:srgbClr val="E2E6E9"/>
                </a:solidFill>
                <a:latin typeface="Merriweather" pitchFamily="34" charset="0"/>
                <a:ea typeface="Merriweather" pitchFamily="34" charset="-122"/>
                <a:cs typeface="Merriweather" pitchFamily="34" charset="-120"/>
              </a:rPr>
              <a:t>                     </a:t>
            </a:r>
            <a:r>
              <a:rPr lang="en-US" sz="1400" b="1" dirty="0">
                <a:solidFill>
                  <a:srgbClr val="E2E6E9"/>
                </a:solidFill>
                <a:latin typeface="Merriweather" pitchFamily="34" charset="0"/>
                <a:ea typeface="Merriweather" pitchFamily="34" charset="-122"/>
                <a:cs typeface="Merriweather" pitchFamily="34" charset="-120"/>
              </a:rPr>
              <a:t>(22481A04N9) </a:t>
            </a:r>
          </a:p>
          <a:p>
            <a:pPr>
              <a:lnSpc>
                <a:spcPts val="2050"/>
              </a:lnSpc>
            </a:pPr>
            <a:r>
              <a:rPr lang="en-US" sz="1400" b="1" dirty="0">
                <a:solidFill>
                  <a:srgbClr val="E2E6E9"/>
                </a:solidFill>
                <a:latin typeface="Merriweather" pitchFamily="34" charset="0"/>
                <a:ea typeface="Merriweather" pitchFamily="34" charset="-122"/>
                <a:cs typeface="Merriweather" pitchFamily="34" charset="-120"/>
              </a:rPr>
              <a:t> Saniya begum        (22481A04L3) </a:t>
            </a:r>
          </a:p>
          <a:p>
            <a:pPr>
              <a:lnSpc>
                <a:spcPts val="2050"/>
              </a:lnSpc>
            </a:pPr>
            <a:r>
              <a:rPr lang="en-US" sz="1400" b="1" dirty="0">
                <a:solidFill>
                  <a:srgbClr val="E2E6E9"/>
                </a:solidFill>
                <a:latin typeface="Merriweather" pitchFamily="34" charset="0"/>
                <a:ea typeface="Merriweather" pitchFamily="34" charset="-122"/>
                <a:cs typeface="Merriweather" pitchFamily="34" charset="-120"/>
              </a:rPr>
              <a:t> Y. Gopal Krishna  (22481A04P2)</a:t>
            </a:r>
          </a:p>
          <a:p>
            <a:pPr>
              <a:lnSpc>
                <a:spcPts val="2050"/>
              </a:lnSpc>
            </a:pPr>
            <a:r>
              <a:rPr lang="en-US" sz="1400" b="1" dirty="0">
                <a:solidFill>
                  <a:srgbClr val="E2E6E9"/>
                </a:solidFill>
                <a:latin typeface="Merriweather" pitchFamily="34" charset="0"/>
                <a:ea typeface="Merriweather" pitchFamily="34" charset="-122"/>
                <a:cs typeface="Merriweather" pitchFamily="34" charset="-120"/>
              </a:rPr>
              <a:t> R. Varshitha            (22481A04L1)</a:t>
            </a:r>
          </a:p>
          <a:p>
            <a:pPr>
              <a:lnSpc>
                <a:spcPts val="2050"/>
              </a:lnSpc>
            </a:pPr>
            <a:r>
              <a:rPr lang="en-US" sz="1400" b="1" dirty="0">
                <a:solidFill>
                  <a:srgbClr val="E2E6E9"/>
                </a:solidFill>
                <a:latin typeface="Merriweather" pitchFamily="34" charset="0"/>
              </a:rPr>
              <a:t>                 </a:t>
            </a:r>
          </a:p>
          <a:p>
            <a:pPr>
              <a:lnSpc>
                <a:spcPts val="2050"/>
              </a:lnSpc>
            </a:pPr>
            <a:r>
              <a:rPr lang="en-US" sz="1400" b="1" dirty="0">
                <a:solidFill>
                  <a:srgbClr val="E2E6E9"/>
                </a:solidFill>
                <a:latin typeface="Merriweather" pitchFamily="34" charset="0"/>
              </a:rPr>
              <a:t>                   B</a:t>
            </a:r>
            <a:r>
              <a:rPr lang="en-US" sz="1400" dirty="0">
                <a:solidFill>
                  <a:schemeClr val="bg1"/>
                </a:solidFill>
                <a:latin typeface="Merriweather" panose="00000500000000000000" pitchFamily="2" charset="0"/>
              </a:rPr>
              <a:t>atch No: 12</a:t>
            </a:r>
          </a:p>
        </p:txBody>
      </p:sp>
      <p:sp>
        <p:nvSpPr>
          <p:cNvPr id="8" name="Text 6"/>
          <p:cNvSpPr/>
          <p:nvPr/>
        </p:nvSpPr>
        <p:spPr>
          <a:xfrm>
            <a:off x="721157" y="4309944"/>
            <a:ext cx="13188077" cy="692347"/>
          </a:xfrm>
          <a:prstGeom prst="rect">
            <a:avLst/>
          </a:prstGeom>
          <a:noFill/>
          <a:ln/>
        </p:spPr>
        <p:txBody>
          <a:bodyPr wrap="none" lIns="0" tIns="0" rIns="0" bIns="0" rtlCol="0" anchor="t"/>
          <a:lstStyle/>
          <a:p>
            <a:pPr marL="0" indent="0">
              <a:lnSpc>
                <a:spcPts val="2550"/>
              </a:lnSpc>
              <a:buNone/>
            </a:pPr>
            <a:r>
              <a:rPr lang="en-US" sz="1600" b="1" dirty="0">
                <a:solidFill>
                  <a:srgbClr val="E2E6E9"/>
                </a:solidFill>
                <a:latin typeface="Merriweather" pitchFamily="34" charset="0"/>
                <a:ea typeface="Merriweather" pitchFamily="34" charset="-122"/>
                <a:cs typeface="Merriweather" pitchFamily="34" charset="-120"/>
              </a:rPr>
              <a:t>                                                        Guide: Dr. V. V. K. D. V. Prasad, M. Tech, PhD (Professor &amp; Convener (IQAC))</a:t>
            </a:r>
            <a:endParaRPr lang="en-US" sz="1600" b="1" dirty="0"/>
          </a:p>
        </p:txBody>
      </p:sp>
      <p:pic>
        <p:nvPicPr>
          <p:cNvPr id="9" name="Image 0" descr="preencoded.png"/>
          <p:cNvPicPr>
            <a:picLocks noChangeAspect="1"/>
          </p:cNvPicPr>
          <p:nvPr/>
        </p:nvPicPr>
        <p:blipFill>
          <a:blip r:embed="rId3"/>
          <a:stretch>
            <a:fillRect/>
          </a:stretch>
        </p:blipFill>
        <p:spPr>
          <a:xfrm>
            <a:off x="6577740" y="4960310"/>
            <a:ext cx="1474915" cy="1326009"/>
          </a:xfrm>
          <a:prstGeom prst="rect">
            <a:avLst/>
          </a:prstGeom>
        </p:spPr>
      </p:pic>
      <p:sp>
        <p:nvSpPr>
          <p:cNvPr id="10" name="Text 7"/>
          <p:cNvSpPr/>
          <p:nvPr/>
        </p:nvSpPr>
        <p:spPr>
          <a:xfrm>
            <a:off x="789540" y="6590511"/>
            <a:ext cx="13188077" cy="329684"/>
          </a:xfrm>
          <a:prstGeom prst="rect">
            <a:avLst/>
          </a:prstGeom>
          <a:noFill/>
          <a:ln/>
        </p:spPr>
        <p:txBody>
          <a:bodyPr wrap="none" lIns="0" tIns="0" rIns="0" bIns="0" rtlCol="0" anchor="t"/>
          <a:lstStyle/>
          <a:p>
            <a:pPr marL="0" indent="0" algn="ctr">
              <a:lnSpc>
                <a:spcPts val="2550"/>
              </a:lnSpc>
              <a:buNone/>
            </a:pPr>
            <a:r>
              <a:rPr lang="en-US" sz="1600" b="1" dirty="0">
                <a:solidFill>
                  <a:srgbClr val="E2E6E9"/>
                </a:solidFill>
                <a:latin typeface="Merriweather" pitchFamily="34" charset="0"/>
                <a:ea typeface="Merriweather" pitchFamily="34" charset="-122"/>
                <a:cs typeface="Merriweather" pitchFamily="34" charset="-120"/>
              </a:rPr>
              <a:t>Department of Electronics and Communication Engineering</a:t>
            </a:r>
            <a:endParaRPr lang="en-US" sz="1600" b="1" dirty="0"/>
          </a:p>
        </p:txBody>
      </p:sp>
      <p:sp>
        <p:nvSpPr>
          <p:cNvPr id="11" name="Text 8"/>
          <p:cNvSpPr/>
          <p:nvPr/>
        </p:nvSpPr>
        <p:spPr>
          <a:xfrm>
            <a:off x="721158" y="6962028"/>
            <a:ext cx="13188077" cy="329684"/>
          </a:xfrm>
          <a:prstGeom prst="rect">
            <a:avLst/>
          </a:prstGeom>
          <a:noFill/>
          <a:ln/>
        </p:spPr>
        <p:txBody>
          <a:bodyPr wrap="none" lIns="0" tIns="0" rIns="0" bIns="0" rtlCol="0" anchor="t"/>
          <a:lstStyle/>
          <a:p>
            <a:pPr marL="0" indent="0" algn="ctr">
              <a:lnSpc>
                <a:spcPts val="2550"/>
              </a:lnSpc>
              <a:buNone/>
            </a:pPr>
            <a:r>
              <a:rPr lang="en-US" sz="1600" b="1" dirty="0">
                <a:solidFill>
                  <a:srgbClr val="E2E6E9"/>
                </a:solidFill>
                <a:latin typeface="Merriweather" pitchFamily="34" charset="0"/>
                <a:ea typeface="Merriweather" pitchFamily="34" charset="-122"/>
                <a:cs typeface="Merriweather" pitchFamily="34" charset="-120"/>
              </a:rPr>
              <a:t>Seshadri Rao Gudlavalleru Engineering College</a:t>
            </a:r>
            <a:endParaRPr lang="en-US" sz="1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4229814" y="751999"/>
            <a:ext cx="6170771" cy="771287"/>
          </a:xfrm>
          <a:prstGeom prst="rect">
            <a:avLst/>
          </a:prstGeom>
          <a:noFill/>
          <a:ln/>
        </p:spPr>
        <p:txBody>
          <a:bodyPr wrap="none" lIns="0" tIns="0" rIns="0" bIns="0" rtlCol="0" anchor="t"/>
          <a:lstStyle/>
          <a:p>
            <a:pPr marL="0" indent="0" algn="ctr">
              <a:lnSpc>
                <a:spcPts val="6050"/>
              </a:lnSpc>
              <a:buNone/>
            </a:pPr>
            <a:endParaRPr lang="en-US" sz="4850" dirty="0"/>
          </a:p>
        </p:txBody>
      </p:sp>
      <p:sp>
        <p:nvSpPr>
          <p:cNvPr id="3" name="Text 1"/>
          <p:cNvSpPr/>
          <p:nvPr/>
        </p:nvSpPr>
        <p:spPr>
          <a:xfrm>
            <a:off x="838735" y="740569"/>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Contents</a:t>
            </a:r>
            <a:endParaRPr lang="en-US" sz="4850" dirty="0"/>
          </a:p>
        </p:txBody>
      </p:sp>
      <p:sp>
        <p:nvSpPr>
          <p:cNvPr id="4" name="Shape 2"/>
          <p:cNvSpPr/>
          <p:nvPr/>
        </p:nvSpPr>
        <p:spPr>
          <a:xfrm>
            <a:off x="1056442" y="1929160"/>
            <a:ext cx="136738" cy="5895449"/>
          </a:xfrm>
          <a:prstGeom prst="roundRect">
            <a:avLst>
              <a:gd name="adj" fmla="val 340122"/>
            </a:avLst>
          </a:prstGeom>
          <a:solidFill>
            <a:srgbClr val="194A99"/>
          </a:solidFill>
          <a:ln/>
        </p:spPr>
        <p:txBody>
          <a:bodyPr/>
          <a:lstStyle/>
          <a:p>
            <a:endParaRPr lang="en-IN"/>
          </a:p>
        </p:txBody>
      </p:sp>
      <p:sp>
        <p:nvSpPr>
          <p:cNvPr id="7" name="Text 5"/>
          <p:cNvSpPr/>
          <p:nvPr/>
        </p:nvSpPr>
        <p:spPr>
          <a:xfrm>
            <a:off x="1124811" y="2029800"/>
            <a:ext cx="3761313" cy="5895450"/>
          </a:xfrm>
          <a:prstGeom prst="rect">
            <a:avLst/>
          </a:prstGeom>
          <a:noFill/>
          <a:ln/>
        </p:spPr>
        <p:txBody>
          <a:bodyPr wrap="none" lIns="0" tIns="0" rIns="0" bIns="0" rtlCol="0" anchor="t"/>
          <a:lstStyle/>
          <a:p>
            <a:pPr marL="342900" indent="-342900">
              <a:lnSpc>
                <a:spcPct val="150000"/>
              </a:lnSpc>
              <a:buFont typeface="Arial" panose="020B0604020202020204" pitchFamily="34" charset="0"/>
              <a:buChar char="•"/>
            </a:pPr>
            <a:r>
              <a:rPr lang="en-US" sz="2400" dirty="0">
                <a:solidFill>
                  <a:srgbClr val="E2E6E9"/>
                </a:solidFill>
                <a:latin typeface="Merriweather" pitchFamily="34" charset="0"/>
                <a:ea typeface="Merriweather" pitchFamily="34" charset="-122"/>
                <a:cs typeface="Merriweather" pitchFamily="34" charset="-120"/>
              </a:rPr>
              <a:t>Abstract</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ea typeface="Merriweather" pitchFamily="34" charset="-122"/>
                <a:cs typeface="Merriweather" pitchFamily="34" charset="-120"/>
              </a:rPr>
              <a:t>Project Objectives</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ea typeface="Merriweather" pitchFamily="34" charset="-122"/>
                <a:cs typeface="Merriweather" pitchFamily="34" charset="-120"/>
              </a:rPr>
              <a:t>Block Diagram </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ea typeface="Merriweather" pitchFamily="34" charset="-122"/>
                <a:cs typeface="Merriweather" pitchFamily="34" charset="-120"/>
              </a:rPr>
              <a:t>Software </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ea typeface="Merriweather" pitchFamily="34" charset="-122"/>
                <a:cs typeface="Merriweather" pitchFamily="34" charset="-120"/>
              </a:rPr>
              <a:t>Project Implementation</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rPr>
              <a:t>Results</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rPr>
              <a:t>Applications &amp; Advantages</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rPr>
              <a:t>Status of Publication</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rPr>
              <a:t>Conclusion &amp; Future Scope</a:t>
            </a:r>
          </a:p>
          <a:p>
            <a:pPr marL="342900" indent="-342900">
              <a:lnSpc>
                <a:spcPct val="150000"/>
              </a:lnSpc>
              <a:buFont typeface="Arial" panose="020B0604020202020204" pitchFamily="34" charset="0"/>
              <a:buChar char="•"/>
            </a:pPr>
            <a:r>
              <a:rPr lang="en-US" sz="2400" dirty="0">
                <a:solidFill>
                  <a:srgbClr val="E2E6E9"/>
                </a:solidFill>
                <a:latin typeface="Merriweather" pitchFamily="34" charset="0"/>
              </a:rPr>
              <a:t>References</a:t>
            </a:r>
            <a:endParaRPr lang="en-US" sz="2400" dirty="0">
              <a:solidFill>
                <a:schemeClr val="bg1"/>
              </a:solidFill>
            </a:endParaRPr>
          </a:p>
          <a:p>
            <a:pPr marL="2171700" lvl="4" indent="-342900">
              <a:lnSpc>
                <a:spcPct val="200000"/>
              </a:lnSpc>
              <a:buFont typeface="Arial" panose="020B0604020202020204" pitchFamily="34" charset="0"/>
              <a:buChar char="•"/>
            </a:pPr>
            <a:endParaRPr lang="en-US" sz="2400" dirty="0">
              <a:solidFill>
                <a:srgbClr val="E2E6E9"/>
              </a:solidFill>
              <a:latin typeface="Merriweather" pitchFamily="34" charset="0"/>
            </a:endParaRPr>
          </a:p>
          <a:p>
            <a:pPr marL="342900" indent="-342900">
              <a:lnSpc>
                <a:spcPct val="200000"/>
              </a:lnSpc>
              <a:buFont typeface="Arial" panose="020B0604020202020204" pitchFamily="34" charset="0"/>
              <a:buChar char="•"/>
            </a:pPr>
            <a:endParaRPr lang="en-US" sz="2400" dirty="0"/>
          </a:p>
          <a:p>
            <a:pPr>
              <a:lnSpc>
                <a:spcPts val="3000"/>
              </a:lnSpc>
            </a:pPr>
            <a:endParaRPr lang="en-US" sz="2400" dirty="0"/>
          </a:p>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 </a:t>
            </a:r>
            <a:endParaRPr lang="en-US" sz="2400" dirty="0"/>
          </a:p>
        </p:txBody>
      </p:sp>
      <p:sp>
        <p:nvSpPr>
          <p:cNvPr id="8" name="TextBox 7">
            <a:extLst>
              <a:ext uri="{FF2B5EF4-FFF2-40B4-BE49-F238E27FC236}">
                <a16:creationId xmlns:a16="http://schemas.microsoft.com/office/drawing/2014/main" id="{8AF2BB41-D547-7032-5872-7C428A6A733B}"/>
              </a:ext>
            </a:extLst>
          </p:cNvPr>
          <p:cNvSpPr txBox="1"/>
          <p:nvPr/>
        </p:nvSpPr>
        <p:spPr>
          <a:xfrm>
            <a:off x="6846277" y="1500133"/>
            <a:ext cx="7315200" cy="846578"/>
          </a:xfrm>
          <a:prstGeom prst="rect">
            <a:avLst/>
          </a:prstGeom>
          <a:noFill/>
        </p:spPr>
        <p:txBody>
          <a:bodyPr wrap="square">
            <a:spAutoFit/>
          </a:bodyPr>
          <a:lstStyle/>
          <a:p>
            <a:pPr>
              <a:lnSpc>
                <a:spcPts val="3000"/>
              </a:lnSpc>
            </a:pPr>
            <a:endParaRPr lang="en-US" sz="2400" dirty="0"/>
          </a:p>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 </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4786908" y="556141"/>
            <a:ext cx="5056465" cy="631984"/>
          </a:xfrm>
          <a:prstGeom prst="rect">
            <a:avLst/>
          </a:prstGeom>
          <a:noFill/>
          <a:ln/>
        </p:spPr>
        <p:txBody>
          <a:bodyPr wrap="none" lIns="0" tIns="0" rIns="0" bIns="0" rtlCol="0" anchor="t"/>
          <a:lstStyle/>
          <a:p>
            <a:pPr marL="0" indent="0" algn="ctr">
              <a:lnSpc>
                <a:spcPts val="4950"/>
              </a:lnSpc>
              <a:buNone/>
            </a:pPr>
            <a:r>
              <a:rPr lang="en-US" sz="3950" dirty="0">
                <a:solidFill>
                  <a:srgbClr val="F5F0F0"/>
                </a:solidFill>
                <a:latin typeface="Merriweather" pitchFamily="34" charset="0"/>
                <a:ea typeface="Merriweather" pitchFamily="34" charset="-122"/>
                <a:cs typeface="Merriweather" pitchFamily="34" charset="-120"/>
              </a:rPr>
              <a:t> Abstract</a:t>
            </a:r>
            <a:endParaRPr lang="en-US" sz="3950" dirty="0"/>
          </a:p>
        </p:txBody>
      </p:sp>
      <p:sp>
        <p:nvSpPr>
          <p:cNvPr id="3" name="Text 1"/>
          <p:cNvSpPr/>
          <p:nvPr/>
        </p:nvSpPr>
        <p:spPr>
          <a:xfrm>
            <a:off x="512955" y="1344927"/>
            <a:ext cx="13615639" cy="2015938"/>
          </a:xfrm>
          <a:prstGeom prst="rect">
            <a:avLst/>
          </a:prstGeom>
          <a:noFill/>
          <a:ln/>
        </p:spPr>
        <p:txBody>
          <a:bodyPr wrap="square" lIns="0" tIns="0" rIns="0" bIns="0" rtlCol="0" anchor="t"/>
          <a:lstStyle/>
          <a:p>
            <a:pPr marL="0" indent="0" algn="just">
              <a:lnSpc>
                <a:spcPct val="150000"/>
              </a:lnSpc>
              <a:buNone/>
            </a:pPr>
            <a:r>
              <a:rPr lang="en-US" sz="1900" dirty="0">
                <a:solidFill>
                  <a:srgbClr val="E2E6E9"/>
                </a:solidFill>
                <a:latin typeface="Merriweather" pitchFamily="34" charset="0"/>
                <a:ea typeface="Merriweather" pitchFamily="34" charset="-122"/>
                <a:cs typeface="Merriweather" pitchFamily="34" charset="-120"/>
              </a:rPr>
              <a:t>The Fast Fourier Transform (FFT) is a widely applied algorithm in digital signal processing and communication systems. This brief introduces a novel </a:t>
            </a:r>
            <a:r>
              <a:rPr lang="en-US" sz="1900" b="1" dirty="0">
                <a:solidFill>
                  <a:srgbClr val="E2E6E9"/>
                </a:solidFill>
                <a:latin typeface="Merriweather" pitchFamily="34" charset="0"/>
                <a:ea typeface="Merriweather" pitchFamily="34" charset="-122"/>
                <a:cs typeface="Merriweather" pitchFamily="34" charset="-120"/>
              </a:rPr>
              <a:t>low-power</a:t>
            </a:r>
            <a:r>
              <a:rPr lang="en-US" sz="1900" dirty="0">
                <a:solidFill>
                  <a:srgbClr val="E2E6E9"/>
                </a:solidFill>
                <a:latin typeface="Merriweather" pitchFamily="34" charset="0"/>
                <a:ea typeface="Merriweather" pitchFamily="34" charset="-122"/>
                <a:cs typeface="Merriweather" pitchFamily="34" charset="-120"/>
              </a:rPr>
              <a:t> and </a:t>
            </a:r>
            <a:r>
              <a:rPr lang="en-US" sz="1900" b="1" dirty="0">
                <a:solidFill>
                  <a:srgbClr val="E2E6E9"/>
                </a:solidFill>
                <a:latin typeface="Merriweather" pitchFamily="34" charset="0"/>
                <a:ea typeface="Merriweather" pitchFamily="34" charset="-122"/>
                <a:cs typeface="Merriweather" pitchFamily="34" charset="-120"/>
              </a:rPr>
              <a:t>low-complexity</a:t>
            </a:r>
            <a:r>
              <a:rPr lang="en-US" sz="1900" dirty="0">
                <a:solidFill>
                  <a:srgbClr val="E2E6E9"/>
                </a:solidFill>
                <a:latin typeface="Merriweather" pitchFamily="34" charset="0"/>
                <a:ea typeface="Merriweather" pitchFamily="34" charset="-122"/>
                <a:cs typeface="Merriweather" pitchFamily="34" charset="-120"/>
              </a:rPr>
              <a:t> FFT architecture. An input grouping method is adopted to minimize the number of multiplications involving inputs and FFT twiddle factor coefficients. Additionally, a </a:t>
            </a:r>
            <a:r>
              <a:rPr lang="en-US" sz="1900" b="1" dirty="0">
                <a:solidFill>
                  <a:srgbClr val="E2E6E9"/>
                </a:solidFill>
                <a:latin typeface="Merriweather" pitchFamily="34" charset="0"/>
                <a:ea typeface="Merriweather" pitchFamily="34" charset="-122"/>
                <a:cs typeface="Merriweather" pitchFamily="34" charset="-120"/>
              </a:rPr>
              <a:t>partial sum sharing scheme</a:t>
            </a:r>
            <a:r>
              <a:rPr lang="en-US" sz="1900" dirty="0">
                <a:solidFill>
                  <a:srgbClr val="E2E6E9"/>
                </a:solidFill>
                <a:latin typeface="Merriweather" pitchFamily="34" charset="0"/>
                <a:ea typeface="Merriweather" pitchFamily="34" charset="-122"/>
                <a:cs typeface="Merriweather" pitchFamily="34" charset="-120"/>
              </a:rPr>
              <a:t> is proposed to efficiently reuse hardware resources, significantly reducing adder costs. Logic synthesis results on ASIC demonstrate that the proposed 32-point FFT architecture.</a:t>
            </a:r>
            <a:endParaRPr lang="en-US" sz="1900" dirty="0"/>
          </a:p>
        </p:txBody>
      </p:sp>
      <p:pic>
        <p:nvPicPr>
          <p:cNvPr id="4" name="Image 0" descr="preencoded.png"/>
          <p:cNvPicPr>
            <a:picLocks noChangeAspect="1"/>
          </p:cNvPicPr>
          <p:nvPr/>
        </p:nvPicPr>
        <p:blipFill>
          <a:blip r:embed="rId3"/>
          <a:stretch>
            <a:fillRect/>
          </a:stretch>
        </p:blipFill>
        <p:spPr>
          <a:xfrm>
            <a:off x="4473773" y="3575763"/>
            <a:ext cx="5986224" cy="3882628"/>
          </a:xfrm>
          <a:prstGeom prst="rect">
            <a:avLst/>
          </a:prstGeom>
        </p:spPr>
      </p:pic>
      <p:pic>
        <p:nvPicPr>
          <p:cNvPr id="5" name="Image 1" descr="preencoded.png"/>
          <p:cNvPicPr>
            <a:picLocks noChangeAspect="1"/>
          </p:cNvPicPr>
          <p:nvPr/>
        </p:nvPicPr>
        <p:blipFill>
          <a:blip r:embed="rId4"/>
          <a:stretch>
            <a:fillRect/>
          </a:stretch>
        </p:blipFill>
        <p:spPr>
          <a:xfrm>
            <a:off x="5222819" y="3837633"/>
            <a:ext cx="171635" cy="171635"/>
          </a:xfrm>
          <a:prstGeom prst="rect">
            <a:avLst/>
          </a:prstGeom>
        </p:spPr>
      </p:pic>
      <p:sp>
        <p:nvSpPr>
          <p:cNvPr id="6" name="Text 2"/>
          <p:cNvSpPr/>
          <p:nvPr/>
        </p:nvSpPr>
        <p:spPr>
          <a:xfrm>
            <a:off x="4712419" y="4206541"/>
            <a:ext cx="1180850" cy="193089"/>
          </a:xfrm>
          <a:prstGeom prst="rect">
            <a:avLst/>
          </a:prstGeom>
          <a:noFill/>
          <a:ln/>
        </p:spPr>
        <p:txBody>
          <a:bodyPr wrap="none" lIns="0" tIns="0" rIns="0" bIns="0" rtlCol="0" anchor="t"/>
          <a:lstStyle/>
          <a:p>
            <a:pPr marL="0" indent="0" algn="ctr">
              <a:lnSpc>
                <a:spcPts val="1650"/>
              </a:lnSpc>
              <a:buNone/>
            </a:pPr>
            <a:r>
              <a:rPr lang="en-US" sz="1350" dirty="0">
                <a:solidFill>
                  <a:srgbClr val="E2E6E9"/>
                </a:solidFill>
                <a:latin typeface="Merriweather" pitchFamily="34" charset="0"/>
                <a:ea typeface="Merriweather" pitchFamily="34" charset="-122"/>
                <a:cs typeface="Merriweather" pitchFamily="34" charset="-120"/>
              </a:rPr>
              <a:t>Input Grouping</a:t>
            </a:r>
            <a:endParaRPr lang="en-US" sz="1350" dirty="0"/>
          </a:p>
        </p:txBody>
      </p:sp>
      <p:sp>
        <p:nvSpPr>
          <p:cNvPr id="7" name="Text 3"/>
          <p:cNvSpPr/>
          <p:nvPr/>
        </p:nvSpPr>
        <p:spPr>
          <a:xfrm>
            <a:off x="4712419" y="4454554"/>
            <a:ext cx="1180850" cy="463415"/>
          </a:xfrm>
          <a:prstGeom prst="rect">
            <a:avLst/>
          </a:prstGeom>
          <a:noFill/>
          <a:ln/>
        </p:spPr>
        <p:txBody>
          <a:bodyPr wrap="square" lIns="0" tIns="0" rIns="0" bIns="0" rtlCol="0" anchor="t"/>
          <a:lstStyle/>
          <a:p>
            <a:pPr marL="0" indent="0" algn="ctr">
              <a:lnSpc>
                <a:spcPts val="1350"/>
              </a:lnSpc>
              <a:buNone/>
            </a:pPr>
            <a:r>
              <a:rPr lang="en-US" sz="1050" dirty="0">
                <a:solidFill>
                  <a:srgbClr val="E2E6E9"/>
                </a:solidFill>
                <a:latin typeface="Merriweather" pitchFamily="34" charset="0"/>
                <a:ea typeface="Merriweather" pitchFamily="34" charset="-122"/>
                <a:cs typeface="Merriweather" pitchFamily="34" charset="-120"/>
              </a:rPr>
              <a:t>Reduces input-twiddle multiplications</a:t>
            </a:r>
            <a:endParaRPr lang="en-US" sz="1050" dirty="0"/>
          </a:p>
        </p:txBody>
      </p:sp>
      <p:pic>
        <p:nvPicPr>
          <p:cNvPr id="8" name="Image 2" descr="preencoded.png"/>
          <p:cNvPicPr>
            <a:picLocks noChangeAspect="1"/>
          </p:cNvPicPr>
          <p:nvPr/>
        </p:nvPicPr>
        <p:blipFill>
          <a:blip r:embed="rId5"/>
          <a:stretch>
            <a:fillRect/>
          </a:stretch>
        </p:blipFill>
        <p:spPr>
          <a:xfrm>
            <a:off x="9548024" y="5663831"/>
            <a:ext cx="171636" cy="171635"/>
          </a:xfrm>
          <a:prstGeom prst="rect">
            <a:avLst/>
          </a:prstGeom>
        </p:spPr>
      </p:pic>
      <p:sp>
        <p:nvSpPr>
          <p:cNvPr id="9" name="Text 4"/>
          <p:cNvSpPr/>
          <p:nvPr/>
        </p:nvSpPr>
        <p:spPr>
          <a:xfrm>
            <a:off x="9037624" y="6013430"/>
            <a:ext cx="1180850" cy="386179"/>
          </a:xfrm>
          <a:prstGeom prst="rect">
            <a:avLst/>
          </a:prstGeom>
          <a:noFill/>
          <a:ln/>
        </p:spPr>
        <p:txBody>
          <a:bodyPr wrap="square" lIns="0" tIns="0" rIns="0" bIns="0" rtlCol="0" anchor="t"/>
          <a:lstStyle/>
          <a:p>
            <a:pPr marL="0" indent="0" algn="ctr">
              <a:lnSpc>
                <a:spcPts val="1650"/>
              </a:lnSpc>
              <a:buNone/>
            </a:pPr>
            <a:r>
              <a:rPr lang="en-US" sz="1350" dirty="0">
                <a:solidFill>
                  <a:srgbClr val="E2E6E9"/>
                </a:solidFill>
                <a:latin typeface="Merriweather" pitchFamily="34" charset="0"/>
                <a:ea typeface="Merriweather" pitchFamily="34" charset="-122"/>
                <a:cs typeface="Merriweather" pitchFamily="34" charset="-120"/>
              </a:rPr>
              <a:t>Partial Sum Sharing</a:t>
            </a:r>
            <a:endParaRPr lang="en-US" sz="1350" dirty="0"/>
          </a:p>
        </p:txBody>
      </p:sp>
      <p:sp>
        <p:nvSpPr>
          <p:cNvPr id="10" name="Text 5"/>
          <p:cNvSpPr/>
          <p:nvPr/>
        </p:nvSpPr>
        <p:spPr>
          <a:xfrm>
            <a:off x="9037624" y="6454532"/>
            <a:ext cx="1180850" cy="308943"/>
          </a:xfrm>
          <a:prstGeom prst="rect">
            <a:avLst/>
          </a:prstGeom>
          <a:noFill/>
          <a:ln/>
        </p:spPr>
        <p:txBody>
          <a:bodyPr wrap="square" lIns="0" tIns="0" rIns="0" bIns="0" rtlCol="0" anchor="t"/>
          <a:lstStyle/>
          <a:p>
            <a:pPr marL="0" indent="0" algn="ctr">
              <a:lnSpc>
                <a:spcPts val="1350"/>
              </a:lnSpc>
              <a:buNone/>
            </a:pPr>
            <a:r>
              <a:rPr lang="en-US" sz="1050" dirty="0">
                <a:solidFill>
                  <a:srgbClr val="E2E6E9"/>
                </a:solidFill>
                <a:latin typeface="Merriweather" pitchFamily="34" charset="0"/>
                <a:ea typeface="Merriweather" pitchFamily="34" charset="-122"/>
                <a:cs typeface="Merriweather" pitchFamily="34" charset="-120"/>
              </a:rPr>
              <a:t>Reuses hardware to cut adder costs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4229814" y="666988"/>
            <a:ext cx="6170771" cy="771287"/>
          </a:xfrm>
          <a:prstGeom prst="rect">
            <a:avLst/>
          </a:prstGeom>
          <a:noFill/>
          <a:ln/>
        </p:spPr>
        <p:txBody>
          <a:bodyPr wrap="none" lIns="0" tIns="0" rIns="0" bIns="0" rtlCol="0" anchor="t"/>
          <a:lstStyle/>
          <a:p>
            <a:pPr marL="0" indent="0" algn="ctr">
              <a:lnSpc>
                <a:spcPts val="6050"/>
              </a:lnSpc>
              <a:buNone/>
            </a:pPr>
            <a:r>
              <a:rPr lang="en-US" sz="4850" dirty="0">
                <a:solidFill>
                  <a:srgbClr val="F5F0F0"/>
                </a:solidFill>
                <a:latin typeface="Merriweather" pitchFamily="34" charset="0"/>
                <a:ea typeface="Merriweather" pitchFamily="34" charset="-122"/>
                <a:cs typeface="Merriweather" pitchFamily="34" charset="-120"/>
              </a:rPr>
              <a:t>Project Objectives</a:t>
            </a:r>
            <a:endParaRPr lang="en-US" sz="4850" dirty="0"/>
          </a:p>
        </p:txBody>
      </p:sp>
      <p:sp>
        <p:nvSpPr>
          <p:cNvPr id="3" name="Text 1"/>
          <p:cNvSpPr/>
          <p:nvPr/>
        </p:nvSpPr>
        <p:spPr>
          <a:xfrm>
            <a:off x="1289209" y="2508647"/>
            <a:ext cx="3397806" cy="385524"/>
          </a:xfrm>
          <a:prstGeom prst="rect">
            <a:avLst/>
          </a:prstGeom>
          <a:noFill/>
          <a:ln/>
        </p:spPr>
        <p:txBody>
          <a:bodyPr wrap="none" lIns="0" tIns="0" rIns="0" bIns="0" rtlCol="0" anchor="t"/>
          <a:lstStyle/>
          <a:p>
            <a:pPr marL="0" indent="0" algn="r">
              <a:lnSpc>
                <a:spcPts val="3000"/>
              </a:lnSpc>
              <a:buNone/>
            </a:pPr>
            <a:r>
              <a:rPr lang="en-US" sz="2400" dirty="0">
                <a:solidFill>
                  <a:srgbClr val="E2E6E9"/>
                </a:solidFill>
                <a:latin typeface="Merriweather" pitchFamily="34" charset="0"/>
                <a:ea typeface="Merriweather" pitchFamily="34" charset="-122"/>
                <a:cs typeface="Merriweather" pitchFamily="34" charset="-120"/>
              </a:rPr>
              <a:t>Reduce Multiplications</a:t>
            </a:r>
            <a:endParaRPr lang="en-US" sz="2400" dirty="0"/>
          </a:p>
        </p:txBody>
      </p:sp>
      <p:sp>
        <p:nvSpPr>
          <p:cNvPr id="4" name="Text 2"/>
          <p:cNvSpPr/>
          <p:nvPr/>
        </p:nvSpPr>
        <p:spPr>
          <a:xfrm>
            <a:off x="863798" y="3042166"/>
            <a:ext cx="3823216" cy="1184434"/>
          </a:xfrm>
          <a:prstGeom prst="rect">
            <a:avLst/>
          </a:prstGeom>
          <a:noFill/>
          <a:ln/>
        </p:spPr>
        <p:txBody>
          <a:bodyPr wrap="square" lIns="0" tIns="0" rIns="0" bIns="0" rtlCol="0" anchor="t"/>
          <a:lstStyle/>
          <a:p>
            <a:pPr marL="0" indent="0" algn="r">
              <a:lnSpc>
                <a:spcPts val="3100"/>
              </a:lnSpc>
              <a:buNone/>
            </a:pPr>
            <a:r>
              <a:rPr lang="en-US" sz="1900" dirty="0">
                <a:solidFill>
                  <a:srgbClr val="E2E6E9"/>
                </a:solidFill>
                <a:latin typeface="Merriweather" pitchFamily="34" charset="0"/>
                <a:ea typeface="Merriweather" pitchFamily="34" charset="-122"/>
                <a:cs typeface="Merriweather" pitchFamily="34" charset="-120"/>
              </a:rPr>
              <a:t>Minimise input × twiddle multiplications using </a:t>
            </a:r>
            <a:r>
              <a:rPr lang="en-US" sz="1900" b="1" dirty="0">
                <a:solidFill>
                  <a:srgbClr val="E2E6E9"/>
                </a:solidFill>
                <a:latin typeface="Merriweather" pitchFamily="34" charset="0"/>
                <a:ea typeface="Merriweather" pitchFamily="34" charset="-122"/>
                <a:cs typeface="Merriweather" pitchFamily="34" charset="-120"/>
              </a:rPr>
              <a:t>input grouping</a:t>
            </a:r>
            <a:r>
              <a:rPr lang="en-US" sz="1900" dirty="0">
                <a:solidFill>
                  <a:srgbClr val="E2E6E9"/>
                </a:solidFill>
                <a:latin typeface="Merriweather" pitchFamily="34" charset="0"/>
                <a:ea typeface="Merriweather" pitchFamily="34" charset="-122"/>
                <a:cs typeface="Merriweather" pitchFamily="34" charset="-120"/>
              </a:rPr>
              <a:t>.</a:t>
            </a:r>
            <a:endParaRPr lang="en-US" sz="1900" dirty="0"/>
          </a:p>
        </p:txBody>
      </p:sp>
      <p:pic>
        <p:nvPicPr>
          <p:cNvPr id="5" name="Image 0" descr="preencoded.png"/>
          <p:cNvPicPr>
            <a:picLocks noChangeAspect="1"/>
          </p:cNvPicPr>
          <p:nvPr/>
        </p:nvPicPr>
        <p:blipFill>
          <a:blip r:embed="rId3"/>
          <a:stretch>
            <a:fillRect/>
          </a:stretch>
        </p:blipFill>
        <p:spPr>
          <a:xfrm>
            <a:off x="5057180" y="2427565"/>
            <a:ext cx="4515922" cy="4515922"/>
          </a:xfrm>
          <a:prstGeom prst="rect">
            <a:avLst/>
          </a:prstGeom>
        </p:spPr>
      </p:pic>
      <p:sp>
        <p:nvSpPr>
          <p:cNvPr id="6" name="Text 3"/>
          <p:cNvSpPr/>
          <p:nvPr/>
        </p:nvSpPr>
        <p:spPr>
          <a:xfrm>
            <a:off x="6012775" y="3336965"/>
            <a:ext cx="369213" cy="461605"/>
          </a:xfrm>
          <a:prstGeom prst="rect">
            <a:avLst/>
          </a:prstGeom>
          <a:noFill/>
          <a:ln/>
        </p:spPr>
        <p:txBody>
          <a:bodyPr wrap="none" lIns="0" tIns="0" rIns="0" bIns="0" rtlCol="0" anchor="t"/>
          <a:lstStyle/>
          <a:p>
            <a:pPr marL="0" indent="0" algn="l">
              <a:lnSpc>
                <a:spcPts val="4650"/>
              </a:lnSpc>
              <a:buNone/>
            </a:pPr>
            <a:r>
              <a:rPr lang="en-US" sz="2900" dirty="0">
                <a:solidFill>
                  <a:srgbClr val="E2E6E9"/>
                </a:solidFill>
                <a:latin typeface="Merriweather" pitchFamily="34" charset="0"/>
                <a:ea typeface="Merriweather" pitchFamily="34" charset="-122"/>
                <a:cs typeface="Merriweather" pitchFamily="34" charset="-120"/>
              </a:rPr>
              <a:t>1</a:t>
            </a:r>
            <a:endParaRPr lang="en-US" sz="2900" dirty="0"/>
          </a:p>
        </p:txBody>
      </p:sp>
      <p:sp>
        <p:nvSpPr>
          <p:cNvPr id="7" name="Text 4"/>
          <p:cNvSpPr/>
          <p:nvPr/>
        </p:nvSpPr>
        <p:spPr>
          <a:xfrm>
            <a:off x="9943267" y="2706053"/>
            <a:ext cx="335422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Minimise Adder Usage</a:t>
            </a:r>
            <a:endParaRPr lang="en-US" sz="2400" dirty="0"/>
          </a:p>
        </p:txBody>
      </p:sp>
      <p:sp>
        <p:nvSpPr>
          <p:cNvPr id="8" name="Text 5"/>
          <p:cNvSpPr/>
          <p:nvPr/>
        </p:nvSpPr>
        <p:spPr>
          <a:xfrm>
            <a:off x="9943267" y="3239572"/>
            <a:ext cx="3823335"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Reduce adder count through </a:t>
            </a:r>
            <a:r>
              <a:rPr lang="en-US" sz="1900" b="1" dirty="0">
                <a:solidFill>
                  <a:srgbClr val="E2E6E9"/>
                </a:solidFill>
                <a:latin typeface="Merriweather" pitchFamily="34" charset="0"/>
                <a:ea typeface="Merriweather" pitchFamily="34" charset="-122"/>
                <a:cs typeface="Merriweather" pitchFamily="34" charset="-120"/>
              </a:rPr>
              <a:t>partial sum sharing</a:t>
            </a:r>
            <a:r>
              <a:rPr lang="en-US" sz="1900" dirty="0">
                <a:solidFill>
                  <a:srgbClr val="E2E6E9"/>
                </a:solidFill>
                <a:latin typeface="Merriweather" pitchFamily="34" charset="0"/>
                <a:ea typeface="Merriweather" pitchFamily="34" charset="-122"/>
                <a:cs typeface="Merriweather" pitchFamily="34" charset="-120"/>
              </a:rPr>
              <a:t>.</a:t>
            </a:r>
            <a:endParaRPr lang="en-US" sz="1900" dirty="0"/>
          </a:p>
        </p:txBody>
      </p:sp>
      <p:pic>
        <p:nvPicPr>
          <p:cNvPr id="9" name="Image 1" descr="preencoded.png"/>
          <p:cNvPicPr>
            <a:picLocks noChangeAspect="1"/>
          </p:cNvPicPr>
          <p:nvPr/>
        </p:nvPicPr>
        <p:blipFill>
          <a:blip r:embed="rId4"/>
          <a:stretch>
            <a:fillRect/>
          </a:stretch>
        </p:blipFill>
        <p:spPr>
          <a:xfrm>
            <a:off x="5057180" y="2427565"/>
            <a:ext cx="4515922" cy="4515922"/>
          </a:xfrm>
          <a:prstGeom prst="rect">
            <a:avLst/>
          </a:prstGeom>
        </p:spPr>
      </p:pic>
      <p:sp>
        <p:nvSpPr>
          <p:cNvPr id="10" name="Text 6"/>
          <p:cNvSpPr/>
          <p:nvPr/>
        </p:nvSpPr>
        <p:spPr>
          <a:xfrm>
            <a:off x="8248055" y="3336965"/>
            <a:ext cx="369213" cy="461605"/>
          </a:xfrm>
          <a:prstGeom prst="rect">
            <a:avLst/>
          </a:prstGeom>
          <a:noFill/>
          <a:ln/>
        </p:spPr>
        <p:txBody>
          <a:bodyPr wrap="none" lIns="0" tIns="0" rIns="0" bIns="0" rtlCol="0" anchor="t"/>
          <a:lstStyle/>
          <a:p>
            <a:pPr marL="0" indent="0" algn="l">
              <a:lnSpc>
                <a:spcPts val="4650"/>
              </a:lnSpc>
              <a:buNone/>
            </a:pPr>
            <a:r>
              <a:rPr lang="en-US" sz="2900" dirty="0">
                <a:solidFill>
                  <a:srgbClr val="E2E6E9"/>
                </a:solidFill>
                <a:latin typeface="Merriweather" pitchFamily="34" charset="0"/>
                <a:ea typeface="Merriweather" pitchFamily="34" charset="-122"/>
                <a:cs typeface="Merriweather" pitchFamily="34" charset="-120"/>
              </a:rPr>
              <a:t>2</a:t>
            </a:r>
            <a:endParaRPr lang="en-US" sz="2900" dirty="0"/>
          </a:p>
        </p:txBody>
      </p:sp>
      <p:sp>
        <p:nvSpPr>
          <p:cNvPr id="11" name="Text 7"/>
          <p:cNvSpPr/>
          <p:nvPr/>
        </p:nvSpPr>
        <p:spPr>
          <a:xfrm>
            <a:off x="10064948" y="4758928"/>
            <a:ext cx="3701653" cy="1028680"/>
          </a:xfrm>
          <a:prstGeom prst="rect">
            <a:avLst/>
          </a:prstGeom>
          <a:noFill/>
          <a:ln/>
        </p:spPr>
        <p:txBody>
          <a:bodyPr wrap="none" lIns="0" tIns="0" rIns="0" bIns="0" rtlCol="0" anchor="t"/>
          <a:lstStyle/>
          <a:p>
            <a:pPr algn="r">
              <a:lnSpc>
                <a:spcPts val="3000"/>
              </a:lnSpc>
            </a:pPr>
            <a:r>
              <a:rPr lang="en-US" sz="2400" dirty="0">
                <a:solidFill>
                  <a:srgbClr val="E2E6E9"/>
                </a:solidFill>
                <a:latin typeface="Merriweather" pitchFamily="34" charset="0"/>
                <a:ea typeface="Merriweather" pitchFamily="34" charset="-122"/>
                <a:cs typeface="Merriweather" pitchFamily="34" charset="-120"/>
              </a:rPr>
              <a:t>Achieve Low-Complexity</a:t>
            </a:r>
          </a:p>
          <a:p>
            <a:pPr algn="r">
              <a:lnSpc>
                <a:spcPts val="3000"/>
              </a:lnSpc>
            </a:pPr>
            <a:r>
              <a:rPr lang="en-US" sz="2400" dirty="0">
                <a:solidFill>
                  <a:srgbClr val="E2E6E9"/>
                </a:solidFill>
                <a:latin typeface="Merriweather" pitchFamily="34" charset="0"/>
                <a:ea typeface="Merriweather" pitchFamily="34" charset="-122"/>
                <a:cs typeface="Merriweather" pitchFamily="34" charset="-120"/>
              </a:rPr>
              <a:t> FFT</a:t>
            </a:r>
            <a:endParaRPr lang="en-US" sz="2400" dirty="0"/>
          </a:p>
        </p:txBody>
      </p:sp>
      <p:sp>
        <p:nvSpPr>
          <p:cNvPr id="12" name="Text 8"/>
          <p:cNvSpPr/>
          <p:nvPr/>
        </p:nvSpPr>
        <p:spPr>
          <a:xfrm>
            <a:off x="9948509" y="5528372"/>
            <a:ext cx="4776343" cy="789622"/>
          </a:xfrm>
          <a:prstGeom prst="rect">
            <a:avLst/>
          </a:prstGeom>
          <a:noFill/>
          <a:ln/>
        </p:spPr>
        <p:txBody>
          <a:bodyPr wrap="square" lIns="0" tIns="0" rIns="0" bIns="0" rtlCol="0" anchor="t"/>
          <a:lstStyle/>
          <a:p>
            <a:pPr>
              <a:lnSpc>
                <a:spcPts val="3100"/>
              </a:lnSpc>
            </a:pPr>
            <a:r>
              <a:rPr lang="en-US" sz="2000" dirty="0">
                <a:solidFill>
                  <a:srgbClr val="E2E6E9"/>
                </a:solidFill>
                <a:latin typeface="Merriweather" pitchFamily="34" charset="0"/>
                <a:ea typeface="Merriweather" pitchFamily="34" charset="-122"/>
                <a:cs typeface="Merriweather" pitchFamily="34" charset="-120"/>
              </a:rPr>
              <a:t>Design a high-speed, low </a:t>
            </a:r>
          </a:p>
          <a:p>
            <a:pPr>
              <a:lnSpc>
                <a:spcPts val="3100"/>
              </a:lnSpc>
            </a:pPr>
            <a:r>
              <a:rPr lang="en-US" sz="2000" dirty="0">
                <a:solidFill>
                  <a:srgbClr val="E2E6E9"/>
                </a:solidFill>
                <a:latin typeface="Merriweather" pitchFamily="34" charset="0"/>
                <a:ea typeface="Merriweather" pitchFamily="34" charset="-122"/>
                <a:cs typeface="Merriweather" pitchFamily="34" charset="-120"/>
              </a:rPr>
              <a:t>complexity </a:t>
            </a:r>
            <a:r>
              <a:rPr lang="en-US" sz="2000" b="1" dirty="0">
                <a:solidFill>
                  <a:srgbClr val="E2E6E9"/>
                </a:solidFill>
                <a:latin typeface="Merriweather" pitchFamily="34" charset="0"/>
                <a:ea typeface="Merriweather" pitchFamily="34" charset="-122"/>
                <a:cs typeface="Merriweather" pitchFamily="34" charset="-120"/>
              </a:rPr>
              <a:t>32-point FFT architecture</a:t>
            </a:r>
            <a:r>
              <a:rPr lang="en-US" sz="2000" dirty="0">
                <a:solidFill>
                  <a:srgbClr val="E2E6E9"/>
                </a:solidFill>
                <a:latin typeface="Merriweather" pitchFamily="34" charset="0"/>
                <a:ea typeface="Merriweather" pitchFamily="34" charset="-122"/>
                <a:cs typeface="Merriweather" pitchFamily="34" charset="-120"/>
              </a:rPr>
              <a:t>.</a:t>
            </a:r>
            <a:endParaRPr lang="en-US" sz="2000" dirty="0"/>
          </a:p>
        </p:txBody>
      </p:sp>
      <p:pic>
        <p:nvPicPr>
          <p:cNvPr id="13" name="Image 2" descr="preencoded.png"/>
          <p:cNvPicPr>
            <a:picLocks noChangeAspect="1"/>
          </p:cNvPicPr>
          <p:nvPr/>
        </p:nvPicPr>
        <p:blipFill>
          <a:blip r:embed="rId5"/>
          <a:stretch>
            <a:fillRect/>
          </a:stretch>
        </p:blipFill>
        <p:spPr>
          <a:xfrm>
            <a:off x="5057180" y="2427565"/>
            <a:ext cx="4515922" cy="4515922"/>
          </a:xfrm>
          <a:prstGeom prst="rect">
            <a:avLst/>
          </a:prstGeom>
        </p:spPr>
      </p:pic>
      <p:sp>
        <p:nvSpPr>
          <p:cNvPr id="14" name="Text 9"/>
          <p:cNvSpPr/>
          <p:nvPr/>
        </p:nvSpPr>
        <p:spPr>
          <a:xfrm>
            <a:off x="8248055" y="5572244"/>
            <a:ext cx="369213" cy="461605"/>
          </a:xfrm>
          <a:prstGeom prst="rect">
            <a:avLst/>
          </a:prstGeom>
          <a:noFill/>
          <a:ln/>
        </p:spPr>
        <p:txBody>
          <a:bodyPr wrap="none" lIns="0" tIns="0" rIns="0" bIns="0" rtlCol="0" anchor="t"/>
          <a:lstStyle/>
          <a:p>
            <a:pPr marL="0" indent="0" algn="l">
              <a:lnSpc>
                <a:spcPts val="4650"/>
              </a:lnSpc>
              <a:buNone/>
            </a:pPr>
            <a:r>
              <a:rPr lang="en-US" sz="2900" dirty="0">
                <a:solidFill>
                  <a:srgbClr val="E2E6E9"/>
                </a:solidFill>
                <a:latin typeface="Merriweather" pitchFamily="34" charset="0"/>
                <a:ea typeface="Merriweather" pitchFamily="34" charset="-122"/>
                <a:cs typeface="Merriweather" pitchFamily="34" charset="-120"/>
              </a:rPr>
              <a:t>3</a:t>
            </a:r>
            <a:endParaRPr lang="en-US" sz="2900" dirty="0"/>
          </a:p>
        </p:txBody>
      </p:sp>
      <p:sp>
        <p:nvSpPr>
          <p:cNvPr id="15" name="Text 10"/>
          <p:cNvSpPr/>
          <p:nvPr/>
        </p:nvSpPr>
        <p:spPr>
          <a:xfrm>
            <a:off x="863798" y="4758928"/>
            <a:ext cx="3823216" cy="771049"/>
          </a:xfrm>
          <a:prstGeom prst="rect">
            <a:avLst/>
          </a:prstGeom>
          <a:noFill/>
          <a:ln/>
        </p:spPr>
        <p:txBody>
          <a:bodyPr wrap="square" lIns="0" tIns="0" rIns="0" bIns="0" rtlCol="0" anchor="t"/>
          <a:lstStyle/>
          <a:p>
            <a:pPr marL="0" indent="0" algn="r">
              <a:lnSpc>
                <a:spcPts val="3000"/>
              </a:lnSpc>
              <a:buNone/>
            </a:pPr>
            <a:r>
              <a:rPr lang="en-US" sz="2400" dirty="0">
                <a:solidFill>
                  <a:srgbClr val="E2E6E9"/>
                </a:solidFill>
                <a:latin typeface="Merriweather" pitchFamily="34" charset="0"/>
                <a:ea typeface="Merriweather" pitchFamily="34" charset="-122"/>
                <a:cs typeface="Merriweather" pitchFamily="34" charset="-120"/>
              </a:rPr>
              <a:t>FPGA Implementation</a:t>
            </a:r>
            <a:endParaRPr lang="en-US" sz="2400" dirty="0"/>
          </a:p>
        </p:txBody>
      </p:sp>
      <p:sp>
        <p:nvSpPr>
          <p:cNvPr id="16" name="Text 11"/>
          <p:cNvSpPr/>
          <p:nvPr/>
        </p:nvSpPr>
        <p:spPr>
          <a:xfrm>
            <a:off x="863799" y="5330966"/>
            <a:ext cx="3823216" cy="1184434"/>
          </a:xfrm>
          <a:prstGeom prst="rect">
            <a:avLst/>
          </a:prstGeom>
          <a:noFill/>
          <a:ln/>
        </p:spPr>
        <p:txBody>
          <a:bodyPr wrap="square" lIns="0" tIns="0" rIns="0" bIns="0" rtlCol="0" anchor="t"/>
          <a:lstStyle/>
          <a:p>
            <a:pPr marL="0" indent="0" algn="r">
              <a:lnSpc>
                <a:spcPts val="3100"/>
              </a:lnSpc>
              <a:buNone/>
            </a:pPr>
            <a:r>
              <a:rPr lang="en-US" sz="1900" dirty="0">
                <a:solidFill>
                  <a:srgbClr val="E2E6E9"/>
                </a:solidFill>
                <a:latin typeface="Merriweather" pitchFamily="34" charset="0"/>
                <a:ea typeface="Merriweather" pitchFamily="34" charset="-122"/>
                <a:cs typeface="Merriweather" pitchFamily="34" charset="-120"/>
              </a:rPr>
              <a:t>Implement this project in Xilinx Vivado on Artix-7 FPGA board</a:t>
            </a:r>
            <a:endParaRPr lang="en-US" sz="1900" dirty="0"/>
          </a:p>
        </p:txBody>
      </p:sp>
      <p:pic>
        <p:nvPicPr>
          <p:cNvPr id="17" name="Image 3" descr="preencoded.png"/>
          <p:cNvPicPr>
            <a:picLocks noChangeAspect="1"/>
          </p:cNvPicPr>
          <p:nvPr/>
        </p:nvPicPr>
        <p:blipFill>
          <a:blip r:embed="rId6"/>
          <a:stretch>
            <a:fillRect/>
          </a:stretch>
        </p:blipFill>
        <p:spPr>
          <a:xfrm>
            <a:off x="5057180" y="2427565"/>
            <a:ext cx="4515922" cy="4515922"/>
          </a:xfrm>
          <a:prstGeom prst="rect">
            <a:avLst/>
          </a:prstGeom>
        </p:spPr>
      </p:pic>
      <p:sp>
        <p:nvSpPr>
          <p:cNvPr id="18" name="Text 12"/>
          <p:cNvSpPr/>
          <p:nvPr/>
        </p:nvSpPr>
        <p:spPr>
          <a:xfrm>
            <a:off x="6012775" y="5572244"/>
            <a:ext cx="369213" cy="461605"/>
          </a:xfrm>
          <a:prstGeom prst="rect">
            <a:avLst/>
          </a:prstGeom>
          <a:noFill/>
          <a:ln/>
        </p:spPr>
        <p:txBody>
          <a:bodyPr wrap="none" lIns="0" tIns="0" rIns="0" bIns="0" rtlCol="0" anchor="t"/>
          <a:lstStyle/>
          <a:p>
            <a:pPr marL="0" indent="0" algn="l">
              <a:lnSpc>
                <a:spcPts val="4650"/>
              </a:lnSpc>
              <a:buNone/>
            </a:pPr>
            <a:r>
              <a:rPr lang="en-US" sz="2900" dirty="0">
                <a:solidFill>
                  <a:srgbClr val="E2E6E9"/>
                </a:solidFill>
                <a:latin typeface="Merriweather" pitchFamily="34" charset="0"/>
                <a:ea typeface="Merriweather" pitchFamily="34" charset="-122"/>
                <a:cs typeface="Merriweather" pitchFamily="34" charset="-120"/>
              </a:rPr>
              <a:t>4</a:t>
            </a:r>
            <a:endParaRPr lang="en-US" sz="2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3590494" y="450648"/>
            <a:ext cx="7551658" cy="771287"/>
          </a:xfrm>
          <a:prstGeom prst="rect">
            <a:avLst/>
          </a:prstGeom>
          <a:noFill/>
          <a:ln/>
        </p:spPr>
        <p:txBody>
          <a:bodyPr wrap="none" lIns="0" tIns="0" rIns="0" bIns="0" rtlCol="0" anchor="t"/>
          <a:lstStyle/>
          <a:p>
            <a:pPr marL="0" indent="0" algn="ctr">
              <a:lnSpc>
                <a:spcPts val="6050"/>
              </a:lnSpc>
              <a:buNone/>
            </a:pPr>
            <a:r>
              <a:rPr lang="en-US" sz="4850" dirty="0">
                <a:solidFill>
                  <a:srgbClr val="F5F0F0"/>
                </a:solidFill>
                <a:latin typeface="Merriweather" pitchFamily="34" charset="0"/>
                <a:ea typeface="Merriweather" pitchFamily="34" charset="-122"/>
                <a:cs typeface="Merriweather" pitchFamily="34" charset="-120"/>
              </a:rPr>
              <a:t>Block Diagram</a:t>
            </a:r>
            <a:endParaRPr lang="en-US" sz="4850" dirty="0"/>
          </a:p>
        </p:txBody>
      </p:sp>
      <p:sp>
        <p:nvSpPr>
          <p:cNvPr id="3" name="Text 1"/>
          <p:cNvSpPr/>
          <p:nvPr/>
        </p:nvSpPr>
        <p:spPr>
          <a:xfrm>
            <a:off x="863798" y="2773085"/>
            <a:ext cx="3702368" cy="462796"/>
          </a:xfrm>
          <a:prstGeom prst="rect">
            <a:avLst/>
          </a:prstGeom>
          <a:noFill/>
          <a:ln/>
        </p:spPr>
        <p:txBody>
          <a:bodyPr wrap="none" lIns="0" tIns="0" rIns="0" bIns="0" rtlCol="0" anchor="t"/>
          <a:lstStyle/>
          <a:p>
            <a:pPr marL="0" indent="0" algn="l">
              <a:lnSpc>
                <a:spcPts val="3600"/>
              </a:lnSpc>
              <a:buNone/>
            </a:pPr>
            <a:endParaRPr lang="en-US" sz="2900" dirty="0"/>
          </a:p>
        </p:txBody>
      </p:sp>
      <p:sp>
        <p:nvSpPr>
          <p:cNvPr id="4" name="Text 2"/>
          <p:cNvSpPr/>
          <p:nvPr/>
        </p:nvSpPr>
        <p:spPr>
          <a:xfrm>
            <a:off x="863798" y="3606046"/>
            <a:ext cx="12902803" cy="394811"/>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5" name="Text 3"/>
          <p:cNvSpPr/>
          <p:nvPr/>
        </p:nvSpPr>
        <p:spPr>
          <a:xfrm>
            <a:off x="863798" y="4087178"/>
            <a:ext cx="12902803" cy="394811"/>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7" name="Text 5"/>
          <p:cNvSpPr/>
          <p:nvPr/>
        </p:nvSpPr>
        <p:spPr>
          <a:xfrm>
            <a:off x="-184416" y="1947353"/>
            <a:ext cx="12902803" cy="394811"/>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14" name="Rectangle 13">
            <a:extLst>
              <a:ext uri="{FF2B5EF4-FFF2-40B4-BE49-F238E27FC236}">
                <a16:creationId xmlns:a16="http://schemas.microsoft.com/office/drawing/2014/main" id="{1BE1212B-25EE-0A7D-34F3-54754ACC2BA9}"/>
              </a:ext>
            </a:extLst>
          </p:cNvPr>
          <p:cNvSpPr/>
          <p:nvPr/>
        </p:nvSpPr>
        <p:spPr>
          <a:xfrm>
            <a:off x="1282050" y="2797415"/>
            <a:ext cx="2865864" cy="1324564"/>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
        <p:nvSpPr>
          <p:cNvPr id="15" name="Rectangle 14" descr="&#10;">
            <a:extLst>
              <a:ext uri="{FF2B5EF4-FFF2-40B4-BE49-F238E27FC236}">
                <a16:creationId xmlns:a16="http://schemas.microsoft.com/office/drawing/2014/main" id="{B051C5A8-50CA-F1CB-2B01-27D9DE01E493}"/>
              </a:ext>
              <a:ext uri="{C183D7F6-B498-43B3-948B-1728B52AA6E4}">
                <adec:decorative xmlns:adec="http://schemas.microsoft.com/office/drawing/2017/decorative" val="0"/>
              </a:ext>
            </a:extLst>
          </p:cNvPr>
          <p:cNvSpPr/>
          <p:nvPr/>
        </p:nvSpPr>
        <p:spPr>
          <a:xfrm>
            <a:off x="350547" y="2022679"/>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Input Data</a:t>
            </a:r>
          </a:p>
        </p:txBody>
      </p:sp>
      <p:sp>
        <p:nvSpPr>
          <p:cNvPr id="18" name="Rectangle 17" descr="&#10;">
            <a:extLst>
              <a:ext uri="{FF2B5EF4-FFF2-40B4-BE49-F238E27FC236}">
                <a16:creationId xmlns:a16="http://schemas.microsoft.com/office/drawing/2014/main" id="{EA0E55F8-4920-242B-4F25-3DF80876AD0D}"/>
              </a:ext>
              <a:ext uri="{C183D7F6-B498-43B3-948B-1728B52AA6E4}">
                <adec:decorative xmlns:adec="http://schemas.microsoft.com/office/drawing/2017/decorative" val="0"/>
              </a:ext>
            </a:extLst>
          </p:cNvPr>
          <p:cNvSpPr/>
          <p:nvPr/>
        </p:nvSpPr>
        <p:spPr>
          <a:xfrm>
            <a:off x="2801660" y="2007379"/>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Input Grouping</a:t>
            </a:r>
          </a:p>
        </p:txBody>
      </p:sp>
      <p:sp>
        <p:nvSpPr>
          <p:cNvPr id="20" name="Rectangle 19" descr="&#10;">
            <a:extLst>
              <a:ext uri="{FF2B5EF4-FFF2-40B4-BE49-F238E27FC236}">
                <a16:creationId xmlns:a16="http://schemas.microsoft.com/office/drawing/2014/main" id="{A6A874AB-8FB0-7D64-7AFF-F2DA3BE23305}"/>
              </a:ext>
              <a:ext uri="{C183D7F6-B498-43B3-948B-1728B52AA6E4}">
                <adec:decorative xmlns:adec="http://schemas.microsoft.com/office/drawing/2017/decorative" val="0"/>
              </a:ext>
            </a:extLst>
          </p:cNvPr>
          <p:cNvSpPr/>
          <p:nvPr/>
        </p:nvSpPr>
        <p:spPr>
          <a:xfrm>
            <a:off x="7626764" y="1995601"/>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Butterfly stages</a:t>
            </a:r>
          </a:p>
        </p:txBody>
      </p:sp>
      <p:sp>
        <p:nvSpPr>
          <p:cNvPr id="21" name="Rectangle 20" descr="&#10;">
            <a:extLst>
              <a:ext uri="{FF2B5EF4-FFF2-40B4-BE49-F238E27FC236}">
                <a16:creationId xmlns:a16="http://schemas.microsoft.com/office/drawing/2014/main" id="{91AD6897-A9F9-63F5-37B8-E5C4AB8B4A83}"/>
              </a:ext>
              <a:ext uri="{C183D7F6-B498-43B3-948B-1728B52AA6E4}">
                <adec:decorative xmlns:adec="http://schemas.microsoft.com/office/drawing/2017/decorative" val="0"/>
              </a:ext>
            </a:extLst>
          </p:cNvPr>
          <p:cNvSpPr/>
          <p:nvPr/>
        </p:nvSpPr>
        <p:spPr>
          <a:xfrm>
            <a:off x="5209566" y="2013911"/>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Partial sum sharing</a:t>
            </a:r>
          </a:p>
        </p:txBody>
      </p:sp>
      <p:sp>
        <p:nvSpPr>
          <p:cNvPr id="22" name="Rectangle 21" descr="&#10;">
            <a:extLst>
              <a:ext uri="{FF2B5EF4-FFF2-40B4-BE49-F238E27FC236}">
                <a16:creationId xmlns:a16="http://schemas.microsoft.com/office/drawing/2014/main" id="{BCC036E1-4094-BF80-468D-C0CD91F4FA02}"/>
              </a:ext>
              <a:ext uri="{C183D7F6-B498-43B3-948B-1728B52AA6E4}">
                <adec:decorative xmlns:adec="http://schemas.microsoft.com/office/drawing/2017/decorative" val="0"/>
              </a:ext>
            </a:extLst>
          </p:cNvPr>
          <p:cNvSpPr/>
          <p:nvPr/>
        </p:nvSpPr>
        <p:spPr>
          <a:xfrm>
            <a:off x="10045690" y="2006842"/>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Twiddle Factor processing</a:t>
            </a:r>
          </a:p>
        </p:txBody>
      </p:sp>
      <p:sp>
        <p:nvSpPr>
          <p:cNvPr id="23" name="Arrow: Right 22">
            <a:extLst>
              <a:ext uri="{FF2B5EF4-FFF2-40B4-BE49-F238E27FC236}">
                <a16:creationId xmlns:a16="http://schemas.microsoft.com/office/drawing/2014/main" id="{083134C4-895B-A04A-C60A-8050B2392E03}"/>
              </a:ext>
            </a:extLst>
          </p:cNvPr>
          <p:cNvSpPr/>
          <p:nvPr/>
        </p:nvSpPr>
        <p:spPr>
          <a:xfrm>
            <a:off x="2403578" y="2384254"/>
            <a:ext cx="284097" cy="273225"/>
          </a:xfrm>
          <a:prstGeom prst="rightArrow">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Arrow: Right 26">
            <a:extLst>
              <a:ext uri="{FF2B5EF4-FFF2-40B4-BE49-F238E27FC236}">
                <a16:creationId xmlns:a16="http://schemas.microsoft.com/office/drawing/2014/main" id="{703789E3-2F71-E31F-685D-5B27D0FA5BEE}"/>
              </a:ext>
            </a:extLst>
          </p:cNvPr>
          <p:cNvSpPr/>
          <p:nvPr/>
        </p:nvSpPr>
        <p:spPr>
          <a:xfrm>
            <a:off x="4816994" y="2388059"/>
            <a:ext cx="284097" cy="273225"/>
          </a:xfrm>
          <a:prstGeom prst="rightArrow">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Right 27">
            <a:extLst>
              <a:ext uri="{FF2B5EF4-FFF2-40B4-BE49-F238E27FC236}">
                <a16:creationId xmlns:a16="http://schemas.microsoft.com/office/drawing/2014/main" id="{4168F75B-86E5-BD56-7489-052C023A3055}"/>
              </a:ext>
            </a:extLst>
          </p:cNvPr>
          <p:cNvSpPr/>
          <p:nvPr/>
        </p:nvSpPr>
        <p:spPr>
          <a:xfrm>
            <a:off x="7224900" y="2372853"/>
            <a:ext cx="284097" cy="273225"/>
          </a:xfrm>
          <a:prstGeom prst="rightArrow">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Right 29">
            <a:extLst>
              <a:ext uri="{FF2B5EF4-FFF2-40B4-BE49-F238E27FC236}">
                <a16:creationId xmlns:a16="http://schemas.microsoft.com/office/drawing/2014/main" id="{E1A121C4-E129-3E07-E5E3-6FA774047967}"/>
              </a:ext>
            </a:extLst>
          </p:cNvPr>
          <p:cNvSpPr/>
          <p:nvPr/>
        </p:nvSpPr>
        <p:spPr>
          <a:xfrm>
            <a:off x="9647608" y="2368416"/>
            <a:ext cx="284097" cy="273225"/>
          </a:xfrm>
          <a:prstGeom prst="rightArrow">
            <a:avLst/>
          </a:prstGeom>
          <a:solidFill>
            <a:schemeClr val="accent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53558BA5-2609-78EB-5451-6D4D106673BF}"/>
              </a:ext>
            </a:extLst>
          </p:cNvPr>
          <p:cNvSpPr/>
          <p:nvPr/>
        </p:nvSpPr>
        <p:spPr>
          <a:xfrm rot="21430552">
            <a:off x="12060911" y="2384059"/>
            <a:ext cx="279771" cy="256078"/>
          </a:xfrm>
          <a:prstGeom prst="rightArrow">
            <a:avLst/>
          </a:prstGeom>
          <a:solidFill>
            <a:schemeClr val="accent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2A0BFCF7-1B1A-6DFA-587C-EB8520401AE5}"/>
              </a:ext>
            </a:extLst>
          </p:cNvPr>
          <p:cNvSpPr/>
          <p:nvPr/>
        </p:nvSpPr>
        <p:spPr>
          <a:xfrm rot="5400000">
            <a:off x="13273199" y="3086509"/>
            <a:ext cx="279771" cy="256078"/>
          </a:xfrm>
          <a:prstGeom prst="rightArrow">
            <a:avLst/>
          </a:prstGeom>
          <a:solidFill>
            <a:schemeClr val="accent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descr="&#10;">
            <a:extLst>
              <a:ext uri="{FF2B5EF4-FFF2-40B4-BE49-F238E27FC236}">
                <a16:creationId xmlns:a16="http://schemas.microsoft.com/office/drawing/2014/main" id="{FE39DA35-EE92-2C5E-4804-087EF9EE6D64}"/>
              </a:ext>
              <a:ext uri="{C183D7F6-B498-43B3-948B-1728B52AA6E4}">
                <adec:decorative xmlns:adec="http://schemas.microsoft.com/office/drawing/2017/decorative" val="0"/>
              </a:ext>
            </a:extLst>
          </p:cNvPr>
          <p:cNvSpPr/>
          <p:nvPr/>
        </p:nvSpPr>
        <p:spPr>
          <a:xfrm>
            <a:off x="12439808" y="1965919"/>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FFT Output</a:t>
            </a:r>
          </a:p>
        </p:txBody>
      </p:sp>
      <p:sp>
        <p:nvSpPr>
          <p:cNvPr id="12" name="Rectangle 11" descr="&#10;">
            <a:extLst>
              <a:ext uri="{FF2B5EF4-FFF2-40B4-BE49-F238E27FC236}">
                <a16:creationId xmlns:a16="http://schemas.microsoft.com/office/drawing/2014/main" id="{14F3F7BF-51BA-F036-D1D3-D276AB325B7F}"/>
              </a:ext>
              <a:ext uri="{C183D7F6-B498-43B3-948B-1728B52AA6E4}">
                <adec:decorative xmlns:adec="http://schemas.microsoft.com/office/drawing/2017/decorative" val="0"/>
              </a:ext>
            </a:extLst>
          </p:cNvPr>
          <p:cNvSpPr/>
          <p:nvPr/>
        </p:nvSpPr>
        <p:spPr>
          <a:xfrm>
            <a:off x="12439808" y="3466802"/>
            <a:ext cx="1906859" cy="99637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b="1" i="1" dirty="0">
                <a:effectLst>
                  <a:outerShdw blurRad="38100" dist="38100" dir="2700000" algn="tl">
                    <a:srgbClr val="000000">
                      <a:alpha val="43137"/>
                    </a:srgbClr>
                  </a:outerShdw>
                </a:effectLst>
                <a:latin typeface="Merriweather" panose="00000500000000000000" pitchFamily="2" charset="0"/>
              </a:rPr>
              <a:t>Simulation</a:t>
            </a:r>
          </a:p>
          <a:p>
            <a:pPr algn="ctr"/>
            <a:r>
              <a:rPr lang="en-IN" b="1" i="1" dirty="0">
                <a:effectLst>
                  <a:outerShdw blurRad="38100" dist="38100" dir="2700000" algn="tl">
                    <a:srgbClr val="000000">
                      <a:alpha val="43137"/>
                    </a:srgbClr>
                  </a:outerShdw>
                </a:effectLst>
                <a:latin typeface="Merriweather" panose="00000500000000000000" pitchFamily="2" charset="0"/>
              </a:rPr>
              <a:t> &amp; </a:t>
            </a:r>
          </a:p>
          <a:p>
            <a:pPr algn="ctr"/>
            <a:r>
              <a:rPr lang="en-IN" b="1" i="1" dirty="0">
                <a:effectLst>
                  <a:outerShdw blurRad="38100" dist="38100" dir="2700000" algn="tl">
                    <a:srgbClr val="000000">
                      <a:alpha val="43137"/>
                    </a:srgbClr>
                  </a:outerShdw>
                </a:effectLst>
                <a:latin typeface="Merriweather" panose="00000500000000000000" pitchFamily="2" charset="0"/>
              </a:rPr>
              <a:t>Analysis</a:t>
            </a:r>
          </a:p>
        </p:txBody>
      </p:sp>
      <p:pic>
        <p:nvPicPr>
          <p:cNvPr id="16" name="Picture 15">
            <a:extLst>
              <a:ext uri="{FF2B5EF4-FFF2-40B4-BE49-F238E27FC236}">
                <a16:creationId xmlns:a16="http://schemas.microsoft.com/office/drawing/2014/main" id="{F8272AB3-124F-DF2D-A177-9CD3864B1EF1}"/>
              </a:ext>
            </a:extLst>
          </p:cNvPr>
          <p:cNvPicPr>
            <a:picLocks noChangeAspect="1"/>
          </p:cNvPicPr>
          <p:nvPr/>
        </p:nvPicPr>
        <p:blipFill>
          <a:blip r:embed="rId3"/>
          <a:srcRect b="6113"/>
          <a:stretch>
            <a:fillRect/>
          </a:stretch>
        </p:blipFill>
        <p:spPr>
          <a:xfrm>
            <a:off x="1187565" y="3662806"/>
            <a:ext cx="4370993" cy="3880665"/>
          </a:xfrm>
          <a:prstGeom prst="rect">
            <a:avLst/>
          </a:prstGeom>
        </p:spPr>
      </p:pic>
      <p:pic>
        <p:nvPicPr>
          <p:cNvPr id="19" name="Picture 18" descr="A diagram of a computer&#10;&#10;AI-generated content may be incorrect.">
            <a:extLst>
              <a:ext uri="{FF2B5EF4-FFF2-40B4-BE49-F238E27FC236}">
                <a16:creationId xmlns:a16="http://schemas.microsoft.com/office/drawing/2014/main" id="{CE8C4AB4-D944-3B8F-EA57-52FBEC831313}"/>
              </a:ext>
            </a:extLst>
          </p:cNvPr>
          <p:cNvPicPr>
            <a:picLocks noChangeAspect="1"/>
          </p:cNvPicPr>
          <p:nvPr/>
        </p:nvPicPr>
        <p:blipFill>
          <a:blip r:embed="rId4"/>
          <a:stretch>
            <a:fillRect/>
          </a:stretch>
        </p:blipFill>
        <p:spPr>
          <a:xfrm>
            <a:off x="6609694" y="3654038"/>
            <a:ext cx="4073766" cy="3889433"/>
          </a:xfrm>
          <a:prstGeom prst="rect">
            <a:avLst/>
          </a:prstGeom>
        </p:spPr>
      </p:pic>
      <p:sp>
        <p:nvSpPr>
          <p:cNvPr id="24" name="TextBox 23">
            <a:extLst>
              <a:ext uri="{FF2B5EF4-FFF2-40B4-BE49-F238E27FC236}">
                <a16:creationId xmlns:a16="http://schemas.microsoft.com/office/drawing/2014/main" id="{87050AFA-8905-0C97-17AD-DDE413188904}"/>
              </a:ext>
            </a:extLst>
          </p:cNvPr>
          <p:cNvSpPr txBox="1"/>
          <p:nvPr/>
        </p:nvSpPr>
        <p:spPr>
          <a:xfrm>
            <a:off x="1465385" y="7666892"/>
            <a:ext cx="10386646" cy="384721"/>
          </a:xfrm>
          <a:prstGeom prst="rect">
            <a:avLst/>
          </a:prstGeom>
          <a:noFill/>
        </p:spPr>
        <p:txBody>
          <a:bodyPr wrap="square" rtlCol="0">
            <a:spAutoFit/>
          </a:bodyPr>
          <a:lstStyle/>
          <a:p>
            <a:r>
              <a:rPr lang="en-IN" sz="1900" dirty="0">
                <a:solidFill>
                  <a:schemeClr val="bg1"/>
                </a:solidFill>
                <a:latin typeface="Merriweather" panose="00000500000000000000" pitchFamily="2" charset="0"/>
              </a:rPr>
              <a:t>                Normal FFT                                              The Proposed 16-Point Architecture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9091BF-D07A-B031-A1B0-41B9A91FAC7F}"/>
              </a:ext>
            </a:extLst>
          </p:cNvPr>
          <p:cNvSpPr txBox="1"/>
          <p:nvPr/>
        </p:nvSpPr>
        <p:spPr>
          <a:xfrm>
            <a:off x="426720" y="260944"/>
            <a:ext cx="7315200" cy="826060"/>
          </a:xfrm>
          <a:prstGeom prst="rect">
            <a:avLst/>
          </a:prstGeom>
          <a:noFill/>
        </p:spPr>
        <p:txBody>
          <a:bodyPr wrap="square">
            <a:spAutoFit/>
          </a:bodyPr>
          <a:lstStyle/>
          <a:p>
            <a:pPr marL="0" indent="0" algn="ctr">
              <a:lnSpc>
                <a:spcPts val="6050"/>
              </a:lnSpc>
              <a:buNone/>
            </a:pPr>
            <a:r>
              <a:rPr lang="en-US" sz="4400" dirty="0">
                <a:solidFill>
                  <a:srgbClr val="F5F0F0"/>
                </a:solidFill>
                <a:latin typeface="Merriweather" pitchFamily="34" charset="0"/>
                <a:ea typeface="Merriweather" pitchFamily="34" charset="-122"/>
                <a:cs typeface="Merriweather" pitchFamily="34" charset="-120"/>
              </a:rPr>
              <a:t>Project Implementation</a:t>
            </a:r>
            <a:endParaRPr lang="en-US" sz="4400" dirty="0">
              <a:solidFill>
                <a:srgbClr val="F5F0F0"/>
              </a:solidFill>
              <a:latin typeface="Merriweather" pitchFamily="34" charset="0"/>
            </a:endParaRPr>
          </a:p>
        </p:txBody>
      </p:sp>
      <p:pic>
        <p:nvPicPr>
          <p:cNvPr id="5" name="Picture 4" descr="S:\Untitled.png">
            <a:extLst>
              <a:ext uri="{FF2B5EF4-FFF2-40B4-BE49-F238E27FC236}">
                <a16:creationId xmlns:a16="http://schemas.microsoft.com/office/drawing/2014/main" id="{6D5AAED5-12D4-B327-BEF3-22BD47A10E60}"/>
              </a:ext>
            </a:extLst>
          </p:cNvPr>
          <p:cNvPicPr/>
          <p:nvPr/>
        </p:nvPicPr>
        <p:blipFill rotWithShape="1">
          <a:blip r:embed="rId2">
            <a:extLst>
              <a:ext uri="{28A0092B-C50C-407E-A947-70E740481C1C}">
                <a14:useLocalDpi xmlns:a14="http://schemas.microsoft.com/office/drawing/2010/main" val="0"/>
              </a:ext>
            </a:extLst>
          </a:blip>
          <a:srcRect l="20413" t="-429" r="45147" b="22422"/>
          <a:stretch/>
        </p:blipFill>
        <p:spPr bwMode="auto">
          <a:xfrm>
            <a:off x="8214360" y="617220"/>
            <a:ext cx="5989320" cy="6995160"/>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6BFF3E69-2C8E-C7D2-263D-CE00C14B55A0}"/>
              </a:ext>
            </a:extLst>
          </p:cNvPr>
          <p:cNvSpPr txBox="1"/>
          <p:nvPr/>
        </p:nvSpPr>
        <p:spPr>
          <a:xfrm>
            <a:off x="1097280" y="1576158"/>
            <a:ext cx="6644640" cy="369332"/>
          </a:xfrm>
          <a:prstGeom prst="rect">
            <a:avLst/>
          </a:prstGeom>
          <a:noFill/>
        </p:spPr>
        <p:txBody>
          <a:bodyPr wrap="square" rtlCol="0">
            <a:spAutoFit/>
          </a:bodyPr>
          <a:lstStyle/>
          <a:p>
            <a:endParaRPr lang="en-IN" dirty="0">
              <a:solidFill>
                <a:schemeClr val="bg1"/>
              </a:solidFill>
              <a:latin typeface="Merriweather" panose="00000500000000000000" pitchFamily="2" charset="0"/>
            </a:endParaRPr>
          </a:p>
        </p:txBody>
      </p:sp>
      <p:sp>
        <p:nvSpPr>
          <p:cNvPr id="8" name="TextBox 7">
            <a:extLst>
              <a:ext uri="{FF2B5EF4-FFF2-40B4-BE49-F238E27FC236}">
                <a16:creationId xmlns:a16="http://schemas.microsoft.com/office/drawing/2014/main" id="{11EDB3AA-85AE-FCE5-3FEB-448046630C61}"/>
              </a:ext>
            </a:extLst>
          </p:cNvPr>
          <p:cNvSpPr txBox="1"/>
          <p:nvPr/>
        </p:nvSpPr>
        <p:spPr>
          <a:xfrm>
            <a:off x="762000" y="1367076"/>
            <a:ext cx="6979920" cy="4893647"/>
          </a:xfrm>
          <a:prstGeom prst="rect">
            <a:avLst/>
          </a:prstGeom>
          <a:noFill/>
        </p:spPr>
        <p:txBody>
          <a:bodyPr wrap="square" rtlCol="0">
            <a:spAutoFit/>
          </a:bodyPr>
          <a:lstStyle/>
          <a:p>
            <a:r>
              <a:rPr lang="en-IN" sz="2400" dirty="0">
                <a:solidFill>
                  <a:schemeClr val="bg1"/>
                </a:solidFill>
                <a:latin typeface="Merriweather" panose="00000500000000000000" pitchFamily="2" charset="0"/>
              </a:rPr>
              <a:t>Proposed Method</a:t>
            </a:r>
          </a:p>
          <a:p>
            <a:endParaRPr lang="en-IN" sz="2400" dirty="0">
              <a:solidFill>
                <a:schemeClr val="bg1"/>
              </a:solidFill>
              <a:latin typeface="Merriweather" panose="00000500000000000000" pitchFamily="2" charset="0"/>
            </a:endParaRPr>
          </a:p>
          <a:p>
            <a:pPr algn="just">
              <a:lnSpc>
                <a:spcPct val="150000"/>
              </a:lnSpc>
            </a:pPr>
            <a:r>
              <a:rPr lang="en-IN" sz="1900" dirty="0">
                <a:solidFill>
                  <a:schemeClr val="bg1"/>
                </a:solidFill>
                <a:latin typeface="Merriweather" panose="00000500000000000000" pitchFamily="2" charset="0"/>
                <a:cs typeface="Times New Roman" panose="02020603050405020304" pitchFamily="18" charset="0"/>
              </a:rPr>
              <a:t>The Fast Fourier Transform (FFT) is an efficient algorithm used to compute the Discrete Fourier Transform (DFT). In essence, FFT transforms a signal from the time domain into the frequency domain, allowing us to </a:t>
            </a:r>
            <a:r>
              <a:rPr lang="en-IN" sz="1900" dirty="0" err="1">
                <a:solidFill>
                  <a:schemeClr val="bg1"/>
                </a:solidFill>
                <a:latin typeface="Merriweather" panose="00000500000000000000" pitchFamily="2" charset="0"/>
                <a:cs typeface="Times New Roman" panose="02020603050405020304" pitchFamily="18" charset="0"/>
              </a:rPr>
              <a:t>analyze</a:t>
            </a:r>
            <a:r>
              <a:rPr lang="en-IN" sz="1900" dirty="0">
                <a:solidFill>
                  <a:schemeClr val="bg1"/>
                </a:solidFill>
                <a:latin typeface="Merriweather" panose="00000500000000000000" pitchFamily="2" charset="0"/>
                <a:cs typeface="Times New Roman" panose="02020603050405020304" pitchFamily="18" charset="0"/>
              </a:rPr>
              <a:t> the frequency components of the signal. The 32-point FFT refers to the process of transforming 32 data points from the time domain to the frequency domain</a:t>
            </a:r>
            <a:r>
              <a:rPr lang="en-IN" sz="2000" dirty="0">
                <a:solidFill>
                  <a:schemeClr val="bg1"/>
                </a:solidFill>
                <a:latin typeface="Merriweather" panose="00000500000000000000" pitchFamily="2" charset="0"/>
                <a:cs typeface="Times New Roman" panose="02020603050405020304" pitchFamily="18" charset="0"/>
              </a:rPr>
              <a:t>.</a:t>
            </a:r>
          </a:p>
          <a:p>
            <a:endParaRPr lang="en-IN" sz="2400" dirty="0">
              <a:solidFill>
                <a:schemeClr val="bg1"/>
              </a:solidFill>
              <a:latin typeface="Merriweather" panose="00000500000000000000" pitchFamily="2" charset="0"/>
            </a:endParaRPr>
          </a:p>
        </p:txBody>
      </p:sp>
      <p:sp>
        <p:nvSpPr>
          <p:cNvPr id="9" name="TextBox 8">
            <a:extLst>
              <a:ext uri="{FF2B5EF4-FFF2-40B4-BE49-F238E27FC236}">
                <a16:creationId xmlns:a16="http://schemas.microsoft.com/office/drawing/2014/main" id="{470F8613-E561-0FF7-A780-1EBEBC2FDAFC}"/>
              </a:ext>
            </a:extLst>
          </p:cNvPr>
          <p:cNvSpPr txBox="1"/>
          <p:nvPr/>
        </p:nvSpPr>
        <p:spPr>
          <a:xfrm>
            <a:off x="8915400" y="7741920"/>
            <a:ext cx="4587240" cy="646331"/>
          </a:xfrm>
          <a:prstGeom prst="rect">
            <a:avLst/>
          </a:prstGeom>
          <a:noFill/>
        </p:spPr>
        <p:txBody>
          <a:bodyPr wrap="square" rtlCol="0">
            <a:spAutoFit/>
          </a:bodyPr>
          <a:lstStyle/>
          <a:p>
            <a:r>
              <a:rPr lang="en-IN" dirty="0">
                <a:solidFill>
                  <a:schemeClr val="bg1"/>
                </a:solidFill>
                <a:latin typeface="Merriweather" panose="00000500000000000000" pitchFamily="2" charset="0"/>
              </a:rPr>
              <a:t>The Proposed 32- point Architecture</a:t>
            </a:r>
          </a:p>
          <a:p>
            <a:endParaRPr lang="en-IN" dirty="0"/>
          </a:p>
        </p:txBody>
      </p:sp>
    </p:spTree>
    <p:extLst>
      <p:ext uri="{BB962C8B-B14F-4D97-AF65-F5344CB8AC3E}">
        <p14:creationId xmlns:p14="http://schemas.microsoft.com/office/powerpoint/2010/main" val="2736028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2272AB-65B0-05A1-061B-F6D24BEF01BD}"/>
              </a:ext>
            </a:extLst>
          </p:cNvPr>
          <p:cNvSpPr txBox="1"/>
          <p:nvPr/>
        </p:nvSpPr>
        <p:spPr>
          <a:xfrm>
            <a:off x="396240" y="429901"/>
            <a:ext cx="13837920" cy="5055230"/>
          </a:xfrm>
          <a:prstGeom prst="rect">
            <a:avLst/>
          </a:prstGeom>
          <a:noFill/>
        </p:spPr>
        <p:txBody>
          <a:bodyPr wrap="square" rtlCol="0">
            <a:spAutoFit/>
          </a:bodyPr>
          <a:lstStyle/>
          <a:p>
            <a:pPr marL="342900" indent="-342900">
              <a:buFont typeface="Courier New" panose="02070309020205020404" pitchFamily="49" charset="0"/>
              <a:buChar char="o"/>
            </a:pPr>
            <a:r>
              <a:rPr lang="en-IN" sz="2000" b="1" dirty="0">
                <a:solidFill>
                  <a:schemeClr val="bg1"/>
                </a:solidFill>
                <a:latin typeface="Merriweather" panose="00000500000000000000" pitchFamily="2" charset="0"/>
                <a:cs typeface="Times New Roman" panose="02020603050405020304" pitchFamily="18" charset="0"/>
              </a:rPr>
              <a:t>Input Data (X(0) to X(31):</a:t>
            </a:r>
          </a:p>
          <a:p>
            <a:pPr algn="just"/>
            <a:endParaRPr lang="en-IN" sz="2300" b="1" dirty="0">
              <a:solidFill>
                <a:schemeClr val="bg1"/>
              </a:solidFill>
              <a:latin typeface="Merriweather" panose="00000500000000000000" pitchFamily="2" charset="0"/>
              <a:cs typeface="Times New Roman" panose="02020603050405020304" pitchFamily="18" charset="0"/>
            </a:endParaRPr>
          </a:p>
          <a:p>
            <a:pPr algn="just">
              <a:lnSpc>
                <a:spcPct val="150000"/>
              </a:lnSpc>
            </a:pPr>
            <a:r>
              <a:rPr lang="en-IN" sz="1900" dirty="0">
                <a:solidFill>
                  <a:schemeClr val="bg1"/>
                </a:solidFill>
                <a:latin typeface="Merriweather" panose="00000500000000000000" pitchFamily="2" charset="0"/>
              </a:rPr>
              <a:t>The 32 input data points, </a:t>
            </a:r>
            <a:r>
              <a:rPr lang="en-IN" sz="1900" dirty="0" err="1">
                <a:solidFill>
                  <a:schemeClr val="bg1"/>
                </a:solidFill>
                <a:latin typeface="Merriweather" panose="00000500000000000000" pitchFamily="2" charset="0"/>
              </a:rPr>
              <a:t>labeled</a:t>
            </a:r>
            <a:r>
              <a:rPr lang="en-IN" sz="1900" dirty="0">
                <a:solidFill>
                  <a:schemeClr val="bg1"/>
                </a:solidFill>
                <a:latin typeface="Merriweather" panose="00000500000000000000" pitchFamily="2" charset="0"/>
              </a:rPr>
              <a:t> X(0) to X(31), represent the sampled time-domain values of the signal that is being </a:t>
            </a:r>
            <a:r>
              <a:rPr lang="en-IN" sz="1900" dirty="0" err="1">
                <a:solidFill>
                  <a:schemeClr val="bg1"/>
                </a:solidFill>
                <a:latin typeface="Merriweather" panose="00000500000000000000" pitchFamily="2" charset="0"/>
              </a:rPr>
              <a:t>analyzed</a:t>
            </a:r>
            <a:r>
              <a:rPr lang="en-IN" sz="1900" dirty="0">
                <a:solidFill>
                  <a:schemeClr val="bg1"/>
                </a:solidFill>
                <a:latin typeface="Merriweather" panose="00000500000000000000" pitchFamily="2" charset="0"/>
              </a:rPr>
              <a:t>. Each of these values corresponds to a specific time sample of a continuous signal, typically representing an audio signal, sensor data, or any discrete-time series data.</a:t>
            </a:r>
          </a:p>
          <a:p>
            <a:pPr marL="342900" indent="-342900" algn="just">
              <a:lnSpc>
                <a:spcPct val="150000"/>
              </a:lnSpc>
              <a:buFont typeface="Courier New" panose="02070309020205020404" pitchFamily="49" charset="0"/>
              <a:buChar char="o"/>
            </a:pPr>
            <a:endParaRPr lang="en-IN" sz="2000" b="1" dirty="0">
              <a:solidFill>
                <a:schemeClr val="bg1"/>
              </a:solidFill>
              <a:latin typeface="Merriweather" panose="00000500000000000000" pitchFamily="2" charset="0"/>
              <a:cs typeface="Times New Roman" panose="02020603050405020304" pitchFamily="18" charset="0"/>
            </a:endParaRPr>
          </a:p>
          <a:p>
            <a:pPr marL="342900" indent="-342900" algn="just">
              <a:lnSpc>
                <a:spcPct val="150000"/>
              </a:lnSpc>
              <a:buFont typeface="Courier New" panose="02070309020205020404" pitchFamily="49" charset="0"/>
              <a:buChar char="o"/>
            </a:pPr>
            <a:r>
              <a:rPr lang="en-IN" sz="2000" b="1" dirty="0">
                <a:solidFill>
                  <a:schemeClr val="bg1"/>
                </a:solidFill>
                <a:latin typeface="Merriweather" panose="00000500000000000000" pitchFamily="2" charset="0"/>
                <a:cs typeface="Times New Roman" panose="02020603050405020304" pitchFamily="18" charset="0"/>
              </a:rPr>
              <a:t>UAS Units in the Architecture:</a:t>
            </a:r>
          </a:p>
          <a:p>
            <a:pPr algn="just"/>
            <a:endParaRPr lang="en-IN" sz="2300" b="1" dirty="0">
              <a:solidFill>
                <a:schemeClr val="bg1"/>
              </a:solidFill>
              <a:latin typeface="Merriweather" panose="00000500000000000000" pitchFamily="2" charset="0"/>
              <a:cs typeface="Times New Roman" panose="02020603050405020304" pitchFamily="18" charset="0"/>
            </a:endParaRPr>
          </a:p>
          <a:p>
            <a:pPr algn="just">
              <a:lnSpc>
                <a:spcPct val="150000"/>
              </a:lnSpc>
            </a:pPr>
            <a:r>
              <a:rPr lang="en-IN" sz="1900" dirty="0">
                <a:solidFill>
                  <a:schemeClr val="bg1"/>
                </a:solidFill>
                <a:latin typeface="Merriweather" panose="00000500000000000000" pitchFamily="2" charset="0"/>
                <a:ea typeface="Times New Roman" panose="02020603050405020304" pitchFamily="18" charset="0"/>
              </a:rPr>
              <a:t>The UAS (likely a logic unit or block) shown in the diagram is used for performing specific operations on the input data. In the context of FFT, UAS could represent an arithmetic or data manipulation unit that performs addition, subtraction, or complex multiplication operations. These operations are essential for combining input data points in the butterfly structure of the FFT.</a:t>
            </a:r>
          </a:p>
        </p:txBody>
      </p:sp>
      <p:pic>
        <p:nvPicPr>
          <p:cNvPr id="7" name="Picture 6">
            <a:extLst>
              <a:ext uri="{FF2B5EF4-FFF2-40B4-BE49-F238E27FC236}">
                <a16:creationId xmlns:a16="http://schemas.microsoft.com/office/drawing/2014/main" id="{8DEA18A3-E37F-20EC-9C64-EBF799A24F83}"/>
              </a:ext>
            </a:extLst>
          </p:cNvPr>
          <p:cNvPicPr>
            <a:picLocks noChangeAspect="1"/>
          </p:cNvPicPr>
          <p:nvPr/>
        </p:nvPicPr>
        <p:blipFill>
          <a:blip r:embed="rId2"/>
          <a:srcRect t="6835"/>
          <a:stretch>
            <a:fillRect/>
          </a:stretch>
        </p:blipFill>
        <p:spPr>
          <a:xfrm>
            <a:off x="5170133" y="5340269"/>
            <a:ext cx="5423526" cy="2604396"/>
          </a:xfrm>
          <a:prstGeom prst="rect">
            <a:avLst/>
          </a:prstGeom>
        </p:spPr>
      </p:pic>
    </p:spTree>
    <p:extLst>
      <p:ext uri="{BB962C8B-B14F-4D97-AF65-F5344CB8AC3E}">
        <p14:creationId xmlns:p14="http://schemas.microsoft.com/office/powerpoint/2010/main" val="1545010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60DC16-FE4F-6043-2984-487730D7A666}"/>
              </a:ext>
            </a:extLst>
          </p:cNvPr>
          <p:cNvSpPr txBox="1"/>
          <p:nvPr/>
        </p:nvSpPr>
        <p:spPr>
          <a:xfrm>
            <a:off x="628650" y="414485"/>
            <a:ext cx="13373100" cy="7655942"/>
          </a:xfrm>
          <a:prstGeom prst="rect">
            <a:avLst/>
          </a:prstGeom>
          <a:noFill/>
        </p:spPr>
        <p:txBody>
          <a:bodyPr wrap="square">
            <a:spAutoFit/>
          </a:bodyPr>
          <a:lstStyle/>
          <a:p>
            <a:pPr marL="342900" indent="-342900" algn="just">
              <a:lnSpc>
                <a:spcPct val="150000"/>
              </a:lnSpc>
              <a:buFont typeface="Courier New" panose="02070309020205020404" pitchFamily="49" charset="0"/>
              <a:buChar char="o"/>
            </a:pPr>
            <a:r>
              <a:rPr lang="en-IN" sz="2400" b="1" dirty="0">
                <a:solidFill>
                  <a:schemeClr val="bg1"/>
                </a:solidFill>
                <a:latin typeface="Merriweather" panose="00000500000000000000" pitchFamily="2" charset="0"/>
                <a:ea typeface="Times New Roman" panose="02020603050405020304" pitchFamily="18" charset="0"/>
              </a:rPr>
              <a:t>Partial Sum Sharing:</a:t>
            </a:r>
          </a:p>
          <a:p>
            <a:pPr algn="just"/>
            <a:endParaRPr lang="en-IN" sz="2400" b="1" dirty="0">
              <a:solidFill>
                <a:schemeClr val="bg1"/>
              </a:solidFill>
              <a:latin typeface="Merriweather" panose="00000500000000000000" pitchFamily="2" charset="0"/>
              <a:ea typeface="Times New Roman" panose="02020603050405020304" pitchFamily="18" charset="0"/>
            </a:endParaRPr>
          </a:p>
          <a:p>
            <a:pPr algn="just">
              <a:lnSpc>
                <a:spcPct val="150000"/>
              </a:lnSpc>
            </a:pPr>
            <a:r>
              <a:rPr lang="en-US" sz="2000" dirty="0">
                <a:solidFill>
                  <a:schemeClr val="bg1"/>
                </a:solidFill>
                <a:latin typeface="Merriweather" panose="00000500000000000000" pitchFamily="2" charset="0"/>
              </a:rPr>
              <a:t>The partial sum sharing technique improves efficiency by reusing intermediate results instead of recalculating them. This reduces redundant operations, lowers the number of adders, and saves hardware resources in the FFT design.</a:t>
            </a:r>
            <a:endParaRPr lang="en-IN" sz="2000" b="1" dirty="0">
              <a:solidFill>
                <a:schemeClr val="bg1"/>
              </a:solidFill>
              <a:latin typeface="Merriweather" panose="00000500000000000000" pitchFamily="2" charset="0"/>
              <a:ea typeface="Times New Roman" panose="02020603050405020304" pitchFamily="18" charset="0"/>
            </a:endParaRPr>
          </a:p>
          <a:p>
            <a:pPr>
              <a:lnSpc>
                <a:spcPct val="150000"/>
              </a:lnSpc>
            </a:pPr>
            <a:endParaRPr lang="en-IN" sz="2000" b="1" dirty="0">
              <a:solidFill>
                <a:schemeClr val="bg1"/>
              </a:solidFill>
              <a:latin typeface="Merriweather" panose="00000500000000000000" pitchFamily="2" charset="0"/>
              <a:cs typeface="Times New Roman" panose="02020603050405020304" pitchFamily="18" charset="0"/>
            </a:endParaRPr>
          </a:p>
          <a:p>
            <a:pPr marL="342900" indent="-342900">
              <a:lnSpc>
                <a:spcPct val="150000"/>
              </a:lnSpc>
              <a:buFont typeface="Courier New" panose="02070309020205020404" pitchFamily="49" charset="0"/>
              <a:buChar char="o"/>
            </a:pPr>
            <a:r>
              <a:rPr lang="en-IN" sz="2000" b="1" dirty="0">
                <a:solidFill>
                  <a:schemeClr val="bg1"/>
                </a:solidFill>
                <a:latin typeface="Merriweather" panose="00000500000000000000" pitchFamily="2" charset="0"/>
                <a:cs typeface="Times New Roman" panose="02020603050405020304" pitchFamily="18" charset="0"/>
              </a:rPr>
              <a:t>Butterfly Structure:</a:t>
            </a:r>
          </a:p>
          <a:p>
            <a:endParaRPr lang="en-IN" sz="2200" b="1" dirty="0">
              <a:solidFill>
                <a:schemeClr val="bg1"/>
              </a:solidFill>
              <a:latin typeface="Merriweather" panose="00000500000000000000" pitchFamily="2" charset="0"/>
              <a:cs typeface="Times New Roman" panose="02020603050405020304" pitchFamily="18" charset="0"/>
            </a:endParaRPr>
          </a:p>
          <a:p>
            <a:pPr algn="just">
              <a:lnSpc>
                <a:spcPct val="150000"/>
              </a:lnSpc>
              <a:spcBef>
                <a:spcPts val="600"/>
              </a:spcBef>
              <a:spcAft>
                <a:spcPts val="600"/>
              </a:spcAft>
            </a:pPr>
            <a:r>
              <a:rPr lang="en-IN" sz="1900" dirty="0">
                <a:solidFill>
                  <a:schemeClr val="bg1"/>
                </a:solidFill>
                <a:latin typeface="Merriweather" panose="00000500000000000000" pitchFamily="2" charset="0"/>
                <a:ea typeface="Times New Roman" panose="02020603050405020304" pitchFamily="18" charset="0"/>
              </a:rPr>
              <a:t>One of the fundamental aspects of the FFT algorithm is its use of the butterfly structure. This structure combines pairs of data points in each stage of the FFT computation. Each stage involves computing complex values (real and imaginary parts) for each pair, with the outputs being passed on to the next stage. The butterfly operation helps in reducing the computational complexity from O(N^2) to O(N log N).</a:t>
            </a:r>
            <a:endParaRPr lang="en-IN" sz="1900" b="1" dirty="0">
              <a:solidFill>
                <a:schemeClr val="bg1"/>
              </a:solidFill>
              <a:latin typeface="Merriweather" panose="00000500000000000000" pitchFamily="2" charset="0"/>
              <a:cs typeface="Times New Roman" panose="02020603050405020304" pitchFamily="18" charset="0"/>
            </a:endParaRPr>
          </a:p>
          <a:p>
            <a:pPr marL="342900" indent="-342900" algn="just">
              <a:lnSpc>
                <a:spcPct val="150000"/>
              </a:lnSpc>
              <a:buFont typeface="Courier New" panose="02070309020205020404" pitchFamily="49" charset="0"/>
              <a:buChar char="o"/>
            </a:pPr>
            <a:r>
              <a:rPr lang="en-IN" sz="2000" b="1" dirty="0">
                <a:solidFill>
                  <a:schemeClr val="bg1"/>
                </a:solidFill>
                <a:latin typeface="Merriweather" panose="00000500000000000000" pitchFamily="2" charset="0"/>
                <a:cs typeface="Times New Roman" panose="02020603050405020304" pitchFamily="18" charset="0"/>
              </a:rPr>
              <a:t>Stages of FFT:</a:t>
            </a:r>
          </a:p>
          <a:p>
            <a:pPr algn="just"/>
            <a:endParaRPr lang="en-IN" sz="2300" b="1" dirty="0">
              <a:solidFill>
                <a:schemeClr val="bg1"/>
              </a:solidFill>
              <a:latin typeface="Merriweather" panose="00000500000000000000" pitchFamily="2" charset="0"/>
              <a:cs typeface="Times New Roman" panose="02020603050405020304" pitchFamily="18" charset="0"/>
            </a:endParaRPr>
          </a:p>
          <a:p>
            <a:pPr>
              <a:lnSpc>
                <a:spcPct val="150000"/>
              </a:lnSpc>
            </a:pPr>
            <a:r>
              <a:rPr lang="en-US" sz="1900" dirty="0">
                <a:solidFill>
                  <a:schemeClr val="bg1"/>
                </a:solidFill>
                <a:latin typeface="Merriweather" panose="00000500000000000000" pitchFamily="2" charset="0"/>
                <a:cs typeface="Times New Roman" panose="02020603050405020304" pitchFamily="18" charset="0"/>
              </a:rPr>
              <a:t>The FFT is typically computed in a series of stages, each one reducing the problem size. For a 32-point FFT, there are 5 stages, as log2(32) = 5. Each stage involves the pairing of data points and applying the butterfly operation to reduce the total number of computations required.</a:t>
            </a:r>
          </a:p>
        </p:txBody>
      </p:sp>
    </p:spTree>
    <p:extLst>
      <p:ext uri="{BB962C8B-B14F-4D97-AF65-F5344CB8AC3E}">
        <p14:creationId xmlns:p14="http://schemas.microsoft.com/office/powerpoint/2010/main" val="612526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338895-0662-6EBF-7139-A1006A9ACDAE}"/>
              </a:ext>
            </a:extLst>
          </p:cNvPr>
          <p:cNvSpPr txBox="1"/>
          <p:nvPr/>
        </p:nvSpPr>
        <p:spPr>
          <a:xfrm>
            <a:off x="717630" y="480438"/>
            <a:ext cx="13195139" cy="1977464"/>
          </a:xfrm>
          <a:prstGeom prst="rect">
            <a:avLst/>
          </a:prstGeom>
          <a:noFill/>
        </p:spPr>
        <p:txBody>
          <a:bodyPr wrap="square">
            <a:spAutoFit/>
          </a:bodyPr>
          <a:lstStyle/>
          <a:p>
            <a:pPr marL="342900" indent="-342900" algn="just">
              <a:buFont typeface="Courier New" panose="02070309020205020404" pitchFamily="49" charset="0"/>
              <a:buChar char="o"/>
            </a:pPr>
            <a:r>
              <a:rPr lang="en-IN" sz="2000" b="1" dirty="0">
                <a:solidFill>
                  <a:schemeClr val="bg1"/>
                </a:solidFill>
                <a:latin typeface="Merriweather" panose="00000500000000000000" pitchFamily="2" charset="0"/>
                <a:cs typeface="Times New Roman" panose="02020603050405020304" pitchFamily="18" charset="0"/>
              </a:rPr>
              <a:t>Twiddle Factor:</a:t>
            </a:r>
          </a:p>
          <a:p>
            <a:pPr algn="just"/>
            <a:endParaRPr lang="en-IN" sz="2000" b="1" dirty="0">
              <a:solidFill>
                <a:schemeClr val="bg1"/>
              </a:solidFill>
              <a:latin typeface="Merriweather" panose="00000500000000000000" pitchFamily="2" charset="0"/>
              <a:cs typeface="Times New Roman" panose="02020603050405020304" pitchFamily="18" charset="0"/>
            </a:endParaRPr>
          </a:p>
          <a:p>
            <a:pPr algn="just">
              <a:lnSpc>
                <a:spcPct val="150000"/>
              </a:lnSpc>
            </a:pPr>
            <a:r>
              <a:rPr lang="en-US" sz="1900" dirty="0">
                <a:solidFill>
                  <a:schemeClr val="bg1"/>
                </a:solidFill>
                <a:latin typeface="Merriweather" panose="00000500000000000000" pitchFamily="2" charset="0"/>
                <a:ea typeface="Times New Roman" panose="02020603050405020304" pitchFamily="18" charset="0"/>
                <a:cs typeface="Times New Roman" panose="02020603050405020304" pitchFamily="18" charset="0"/>
              </a:rPr>
              <a:t>One of the key components of the FFT is the use of twiddle factors—complex exponential terms that are used to scale the data during the butterfly operations. These factors help in rotating the data in the complex plane, which is an essential part of transforming the data from the time domain to the frequency domain.</a:t>
            </a:r>
            <a:endParaRPr lang="en-IN" sz="1900" dirty="0">
              <a:solidFill>
                <a:schemeClr val="bg1"/>
              </a:solidFill>
              <a:latin typeface="Merriweather" panose="00000500000000000000" pitchFamily="2"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43F6F3C-71CE-1BEE-CE58-50DDB78B9199}"/>
              </a:ext>
            </a:extLst>
          </p:cNvPr>
          <p:cNvPicPr/>
          <p:nvPr/>
        </p:nvPicPr>
        <p:blipFill>
          <a:blip r:embed="rId2"/>
          <a:stretch>
            <a:fillRect/>
          </a:stretch>
        </p:blipFill>
        <p:spPr>
          <a:xfrm>
            <a:off x="10529344" y="4114800"/>
            <a:ext cx="3528391" cy="1872208"/>
          </a:xfrm>
          <a:prstGeom prst="rect">
            <a:avLst/>
          </a:prstGeom>
        </p:spPr>
      </p:pic>
      <p:sp>
        <p:nvSpPr>
          <p:cNvPr id="7" name="TextBox 6">
            <a:extLst>
              <a:ext uri="{FF2B5EF4-FFF2-40B4-BE49-F238E27FC236}">
                <a16:creationId xmlns:a16="http://schemas.microsoft.com/office/drawing/2014/main" id="{9EDF4031-98C6-FEF7-4674-463420341864}"/>
              </a:ext>
            </a:extLst>
          </p:cNvPr>
          <p:cNvSpPr txBox="1"/>
          <p:nvPr/>
        </p:nvSpPr>
        <p:spPr>
          <a:xfrm>
            <a:off x="717630" y="2798956"/>
            <a:ext cx="9262711" cy="5370701"/>
          </a:xfrm>
          <a:prstGeom prst="rect">
            <a:avLst/>
          </a:prstGeom>
          <a:noFill/>
        </p:spPr>
        <p:txBody>
          <a:bodyPr wrap="square" rtlCol="0">
            <a:spAutoFit/>
          </a:bodyPr>
          <a:lstStyle/>
          <a:p>
            <a:pPr marL="347472" indent="-347472">
              <a:buSzPts val="2400"/>
              <a:buFont typeface="Courier New" panose="02070309020205020404" pitchFamily="49" charset="0"/>
              <a:buChar char="o"/>
            </a:pPr>
            <a:r>
              <a:rPr lang="en-IN" sz="2000" b="1" dirty="0">
                <a:solidFill>
                  <a:srgbClr val="FFFFFF"/>
                </a:solidFill>
                <a:latin typeface="Merriweather" panose="00000500000000000000" pitchFamily="2" charset="0"/>
                <a:cs typeface="Times New Roman" panose="02020603050405020304" pitchFamily="18" charset="0"/>
              </a:rPr>
              <a:t>Flip-flop-based clock gating :</a:t>
            </a:r>
          </a:p>
          <a:p>
            <a:pPr>
              <a:buSzPts val="2400"/>
            </a:pPr>
            <a:endParaRPr lang="en-IN" sz="2000" dirty="0"/>
          </a:p>
          <a:p>
            <a:pPr algn="just">
              <a:lnSpc>
                <a:spcPct val="150000"/>
              </a:lnSpc>
            </a:pPr>
            <a:r>
              <a:rPr lang="en-US" sz="1900" dirty="0">
                <a:solidFill>
                  <a:schemeClr val="bg1"/>
                </a:solidFill>
                <a:latin typeface="Merriweather" panose="00000500000000000000" pitchFamily="2" charset="0"/>
              </a:rPr>
              <a:t>Flip-flop-based clock gating is a low-power technique used to reduce dynamic power consumption in digital circuits by disabling the clock when the system is idle. In this method, the enable signal is sampled using a D flip-flop on the rising edge of the clock, and the flip-flop output is ANDed with the clock to generate a gated clock. This ensures that clock transitions occur only at well-defined edges, preventing glitches and timing issues. When the enable signal is low, the gated clock remains off, reducing unnecessary switching activity. Compared to latch-based clock gating, this approach provides glitch-free operation, better timing closure, and easier integration in FPGA and ASIC designs.</a:t>
            </a:r>
            <a:endParaRPr lang="en-IN" sz="1900" dirty="0">
              <a:solidFill>
                <a:schemeClr val="bg1"/>
              </a:solidFill>
              <a:latin typeface="Merriweather" panose="00000500000000000000" pitchFamily="2" charset="0"/>
            </a:endParaRPr>
          </a:p>
          <a:p>
            <a:endParaRPr lang="en-IN" dirty="0"/>
          </a:p>
        </p:txBody>
      </p:sp>
      <p:sp>
        <p:nvSpPr>
          <p:cNvPr id="9" name="TextBox 8">
            <a:extLst>
              <a:ext uri="{FF2B5EF4-FFF2-40B4-BE49-F238E27FC236}">
                <a16:creationId xmlns:a16="http://schemas.microsoft.com/office/drawing/2014/main" id="{A40E82C3-DAC0-095D-D7D5-B7177646BFFF}"/>
              </a:ext>
            </a:extLst>
          </p:cNvPr>
          <p:cNvSpPr txBox="1"/>
          <p:nvPr/>
        </p:nvSpPr>
        <p:spPr>
          <a:xfrm>
            <a:off x="10103004" y="6189148"/>
            <a:ext cx="4527396" cy="923330"/>
          </a:xfrm>
          <a:prstGeom prst="rect">
            <a:avLst/>
          </a:prstGeom>
          <a:noFill/>
        </p:spPr>
        <p:txBody>
          <a:bodyPr wrap="square">
            <a:spAutoFit/>
          </a:bodyPr>
          <a:lstStyle/>
          <a:p>
            <a:pPr algn="ctr"/>
            <a:r>
              <a:rPr lang="en-IN" dirty="0">
                <a:solidFill>
                  <a:schemeClr val="bg1"/>
                </a:solidFill>
                <a:latin typeface="Merriweather" panose="00000500000000000000" pitchFamily="2" charset="0"/>
              </a:rPr>
              <a:t>Flip-flop-based clock gating technique</a:t>
            </a:r>
          </a:p>
          <a:p>
            <a:endParaRPr lang="en-IN" dirty="0"/>
          </a:p>
        </p:txBody>
      </p:sp>
    </p:spTree>
    <p:extLst>
      <p:ext uri="{BB962C8B-B14F-4D97-AF65-F5344CB8AC3E}">
        <p14:creationId xmlns:p14="http://schemas.microsoft.com/office/powerpoint/2010/main" val="1899544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3EC2E9-F797-B53D-6CCB-C14E97D68CE6}"/>
              </a:ext>
            </a:extLst>
          </p:cNvPr>
          <p:cNvSpPr txBox="1"/>
          <p:nvPr/>
        </p:nvSpPr>
        <p:spPr>
          <a:xfrm>
            <a:off x="769435" y="355313"/>
            <a:ext cx="12879658" cy="3088666"/>
          </a:xfrm>
          <a:prstGeom prst="rect">
            <a:avLst/>
          </a:prstGeom>
          <a:noFill/>
        </p:spPr>
        <p:txBody>
          <a:bodyPr wrap="square">
            <a:spAutoFit/>
          </a:bodyPr>
          <a:lstStyle/>
          <a:p>
            <a:pPr algn="l" rtl="0" eaLnBrk="1" latinLnBrk="0" hangingPunct="1">
              <a:buClrTx/>
              <a:buSzPts val="2400"/>
            </a:pPr>
            <a:endParaRPr lang="en-IN" sz="2000" b="1" dirty="0">
              <a:solidFill>
                <a:srgbClr val="FFFFFF"/>
              </a:solidFill>
              <a:latin typeface="Merriweather" panose="00000500000000000000" pitchFamily="2" charset="0"/>
              <a:cs typeface="Times New Roman" panose="02020603050405020304" pitchFamily="18" charset="0"/>
            </a:endParaRPr>
          </a:p>
          <a:p>
            <a:pPr marL="347472" indent="-347472" algn="l" rtl="0" eaLnBrk="1" latinLnBrk="0" hangingPunct="1">
              <a:buClrTx/>
              <a:buSzPts val="2400"/>
              <a:buFont typeface="Courier New" panose="02070309020205020404" pitchFamily="49" charset="0"/>
              <a:buChar char="o"/>
            </a:pPr>
            <a:r>
              <a:rPr lang="en-IN" sz="2000" b="1" dirty="0">
                <a:solidFill>
                  <a:srgbClr val="FFFFFF"/>
                </a:solidFill>
                <a:latin typeface="Merriweather" panose="00000500000000000000" pitchFamily="2" charset="0"/>
                <a:cs typeface="Times New Roman" panose="02020603050405020304" pitchFamily="18" charset="0"/>
              </a:rPr>
              <a:t>Real, Imaginary, and Complex Outputs</a:t>
            </a:r>
            <a:r>
              <a:rPr lang="en-IN" sz="2000" b="1" kern="1200" dirty="0">
                <a:solidFill>
                  <a:srgbClr val="FFFFFF"/>
                </a:solidFill>
                <a:effectLst/>
                <a:latin typeface="Merriweather" panose="00000500000000000000" pitchFamily="2" charset="0"/>
                <a:ea typeface="+mn-ea"/>
                <a:cs typeface="Times New Roman" panose="02020603050405020304" pitchFamily="18" charset="0"/>
              </a:rPr>
              <a:t>:</a:t>
            </a:r>
          </a:p>
          <a:p>
            <a:pPr algn="l" rtl="0" eaLnBrk="1" latinLnBrk="0" hangingPunct="1">
              <a:buClrTx/>
              <a:buSzPts val="2400"/>
            </a:pPr>
            <a:endParaRPr lang="en-IN" sz="1800" dirty="0">
              <a:effectLst/>
            </a:endParaRPr>
          </a:p>
          <a:p>
            <a:pPr algn="just">
              <a:lnSpc>
                <a:spcPct val="150000"/>
              </a:lnSpc>
            </a:pPr>
            <a:r>
              <a:rPr lang="en-IN" sz="1900" dirty="0">
                <a:solidFill>
                  <a:schemeClr val="bg1"/>
                </a:solidFill>
                <a:latin typeface="Merriweather" panose="00000500000000000000" pitchFamily="2" charset="0"/>
                <a:cs typeface="Times New Roman" panose="02020603050405020304" pitchFamily="18" charset="0"/>
              </a:rPr>
              <a:t>The diagram shows outputs </a:t>
            </a:r>
            <a:r>
              <a:rPr lang="en-IN" sz="1900" dirty="0" err="1">
                <a:solidFill>
                  <a:schemeClr val="bg1"/>
                </a:solidFill>
                <a:latin typeface="Merriweather" panose="00000500000000000000" pitchFamily="2" charset="0"/>
                <a:cs typeface="Times New Roman" panose="02020603050405020304" pitchFamily="18" charset="0"/>
              </a:rPr>
              <a:t>labeled</a:t>
            </a:r>
            <a:r>
              <a:rPr lang="en-IN" sz="1900" dirty="0">
                <a:solidFill>
                  <a:schemeClr val="bg1"/>
                </a:solidFill>
                <a:latin typeface="Merriweather" panose="00000500000000000000" pitchFamily="2" charset="0"/>
                <a:cs typeface="Times New Roman" panose="02020603050405020304" pitchFamily="18" charset="0"/>
              </a:rPr>
              <a:t> </a:t>
            </a:r>
            <a:r>
              <a:rPr lang="en-IN" sz="1900" b="1" dirty="0">
                <a:solidFill>
                  <a:schemeClr val="bg1"/>
                </a:solidFill>
                <a:latin typeface="Merriweather" panose="00000500000000000000" pitchFamily="2" charset="0"/>
                <a:cs typeface="Times New Roman" panose="02020603050405020304" pitchFamily="18" charset="0"/>
              </a:rPr>
              <a:t>R</a:t>
            </a:r>
            <a:r>
              <a:rPr lang="en-IN" sz="1900" dirty="0">
                <a:solidFill>
                  <a:schemeClr val="bg1"/>
                </a:solidFill>
                <a:latin typeface="Merriweather" panose="00000500000000000000" pitchFamily="2" charset="0"/>
                <a:cs typeface="Times New Roman" panose="02020603050405020304" pitchFamily="18" charset="0"/>
              </a:rPr>
              <a:t>, </a:t>
            </a:r>
            <a:r>
              <a:rPr lang="en-IN" sz="1900" b="1" dirty="0">
                <a:solidFill>
                  <a:schemeClr val="bg1"/>
                </a:solidFill>
                <a:latin typeface="Merriweather" panose="00000500000000000000" pitchFamily="2" charset="0"/>
                <a:cs typeface="Times New Roman" panose="02020603050405020304" pitchFamily="18" charset="0"/>
              </a:rPr>
              <a:t>I</a:t>
            </a:r>
            <a:r>
              <a:rPr lang="en-IN" sz="1900" dirty="0">
                <a:solidFill>
                  <a:schemeClr val="bg1"/>
                </a:solidFill>
                <a:latin typeface="Merriweather" panose="00000500000000000000" pitchFamily="2" charset="0"/>
                <a:cs typeface="Times New Roman" panose="02020603050405020304" pitchFamily="18" charset="0"/>
              </a:rPr>
              <a:t>, and </a:t>
            </a:r>
            <a:r>
              <a:rPr lang="en-IN" sz="1900" b="1" dirty="0">
                <a:solidFill>
                  <a:schemeClr val="bg1"/>
                </a:solidFill>
                <a:latin typeface="Merriweather" panose="00000500000000000000" pitchFamily="2" charset="0"/>
                <a:cs typeface="Times New Roman" panose="02020603050405020304" pitchFamily="18" charset="0"/>
              </a:rPr>
              <a:t>C</a:t>
            </a:r>
            <a:r>
              <a:rPr lang="en-IN" sz="1900" dirty="0">
                <a:solidFill>
                  <a:schemeClr val="bg1"/>
                </a:solidFill>
                <a:latin typeface="Merriweather" panose="00000500000000000000" pitchFamily="2" charset="0"/>
                <a:cs typeface="Times New Roman" panose="02020603050405020304" pitchFamily="18" charset="0"/>
              </a:rPr>
              <a:t>. These correspond to the real and imaginary parts of the FFT results. </a:t>
            </a:r>
            <a:r>
              <a:rPr lang="en-IN" sz="1900" b="1" dirty="0">
                <a:solidFill>
                  <a:schemeClr val="bg1"/>
                </a:solidFill>
                <a:latin typeface="Merriweather" panose="00000500000000000000" pitchFamily="2" charset="0"/>
                <a:cs typeface="Times New Roman" panose="02020603050405020304" pitchFamily="18" charset="0"/>
              </a:rPr>
              <a:t>R</a:t>
            </a:r>
            <a:r>
              <a:rPr lang="en-IN" sz="1900" dirty="0">
                <a:solidFill>
                  <a:schemeClr val="bg1"/>
                </a:solidFill>
                <a:latin typeface="Merriweather" panose="00000500000000000000" pitchFamily="2" charset="0"/>
                <a:cs typeface="Times New Roman" panose="02020603050405020304" pitchFamily="18" charset="0"/>
              </a:rPr>
              <a:t> is the real component, </a:t>
            </a:r>
            <a:r>
              <a:rPr lang="en-IN" sz="1900" b="1" dirty="0">
                <a:solidFill>
                  <a:schemeClr val="bg1"/>
                </a:solidFill>
                <a:latin typeface="Merriweather" panose="00000500000000000000" pitchFamily="2" charset="0"/>
                <a:cs typeface="Times New Roman" panose="02020603050405020304" pitchFamily="18" charset="0"/>
              </a:rPr>
              <a:t>I</a:t>
            </a:r>
            <a:r>
              <a:rPr lang="en-IN" sz="1900" dirty="0">
                <a:solidFill>
                  <a:schemeClr val="bg1"/>
                </a:solidFill>
                <a:latin typeface="Merriweather" panose="00000500000000000000" pitchFamily="2" charset="0"/>
                <a:cs typeface="Times New Roman" panose="02020603050405020304" pitchFamily="18" charset="0"/>
              </a:rPr>
              <a:t> is the imaginary component, and </a:t>
            </a:r>
            <a:r>
              <a:rPr lang="en-IN" sz="1900" b="1" dirty="0">
                <a:solidFill>
                  <a:schemeClr val="bg1"/>
                </a:solidFill>
                <a:latin typeface="Merriweather" panose="00000500000000000000" pitchFamily="2" charset="0"/>
                <a:cs typeface="Times New Roman" panose="02020603050405020304" pitchFamily="18" charset="0"/>
              </a:rPr>
              <a:t>C</a:t>
            </a:r>
            <a:r>
              <a:rPr lang="en-IN" sz="1900" dirty="0">
                <a:solidFill>
                  <a:schemeClr val="bg1"/>
                </a:solidFill>
                <a:latin typeface="Merriweather" panose="00000500000000000000" pitchFamily="2" charset="0"/>
                <a:cs typeface="Times New Roman" panose="02020603050405020304" pitchFamily="18" charset="0"/>
              </a:rPr>
              <a:t> represents the combined complex values. These outputs are essential for fully representing the frequency components of the signal.</a:t>
            </a:r>
          </a:p>
          <a:p>
            <a:pPr marL="0" algn="just" rtl="0" eaLnBrk="1" latinLnBrk="0" hangingPunct="1">
              <a:lnSpc>
                <a:spcPct val="150000"/>
              </a:lnSpc>
              <a:buNone/>
            </a:pPr>
            <a:endParaRPr lang="en-IN" dirty="0">
              <a:effectLst/>
            </a:endParaRPr>
          </a:p>
          <a:p>
            <a:pPr marL="347472" indent="-347472" algn="just" rtl="0" eaLnBrk="1" latinLnBrk="0" hangingPunct="1">
              <a:lnSpc>
                <a:spcPct val="150000"/>
              </a:lnSpc>
              <a:buNone/>
            </a:pPr>
            <a:endParaRPr lang="en-IN" dirty="0">
              <a:effectLst/>
            </a:endParaRPr>
          </a:p>
        </p:txBody>
      </p:sp>
      <p:sp>
        <p:nvSpPr>
          <p:cNvPr id="2" name="TextBox 1">
            <a:extLst>
              <a:ext uri="{FF2B5EF4-FFF2-40B4-BE49-F238E27FC236}">
                <a16:creationId xmlns:a16="http://schemas.microsoft.com/office/drawing/2014/main" id="{414D947D-9F2B-2D2F-7D3F-E5F87BBAA43C}"/>
              </a:ext>
            </a:extLst>
          </p:cNvPr>
          <p:cNvSpPr txBox="1"/>
          <p:nvPr/>
        </p:nvSpPr>
        <p:spPr>
          <a:xfrm>
            <a:off x="903249" y="3021726"/>
            <a:ext cx="5441795" cy="461665"/>
          </a:xfrm>
          <a:prstGeom prst="rect">
            <a:avLst/>
          </a:prstGeom>
          <a:noFill/>
        </p:spPr>
        <p:txBody>
          <a:bodyPr wrap="square" rtlCol="0">
            <a:spAutoFit/>
          </a:bodyPr>
          <a:lstStyle/>
          <a:p>
            <a:r>
              <a:rPr lang="en-IN" sz="2400" u="sng" dirty="0">
                <a:solidFill>
                  <a:schemeClr val="bg1"/>
                </a:solidFill>
                <a:latin typeface="Merriweather" panose="00000500000000000000" pitchFamily="2" charset="0"/>
              </a:rPr>
              <a:t>Functional Modules of the Design</a:t>
            </a:r>
          </a:p>
        </p:txBody>
      </p:sp>
      <p:sp>
        <p:nvSpPr>
          <p:cNvPr id="4" name="TextBox 3">
            <a:extLst>
              <a:ext uri="{FF2B5EF4-FFF2-40B4-BE49-F238E27FC236}">
                <a16:creationId xmlns:a16="http://schemas.microsoft.com/office/drawing/2014/main" id="{420A0B04-A456-B929-C314-F69F87A273DB}"/>
              </a:ext>
            </a:extLst>
          </p:cNvPr>
          <p:cNvSpPr txBox="1"/>
          <p:nvPr/>
        </p:nvSpPr>
        <p:spPr>
          <a:xfrm>
            <a:off x="903249" y="3443979"/>
            <a:ext cx="3189250" cy="2505942"/>
          </a:xfrm>
          <a:prstGeom prst="rect">
            <a:avLst/>
          </a:prstGeom>
          <a:noFill/>
        </p:spPr>
        <p:txBody>
          <a:bodyPr wrap="square" rtlCol="0">
            <a:spAutoFit/>
          </a:bodyPr>
          <a:lstStyle/>
          <a:p>
            <a:pPr>
              <a:lnSpc>
                <a:spcPct val="200000"/>
              </a:lnSpc>
            </a:pPr>
            <a:r>
              <a:rPr lang="en-IN" sz="2000" u="sng" dirty="0">
                <a:solidFill>
                  <a:schemeClr val="bg1"/>
                </a:solidFill>
                <a:latin typeface="Merriweather" panose="00000500000000000000" pitchFamily="2" charset="0"/>
              </a:rPr>
              <a:t>Without Clock Gating </a:t>
            </a:r>
          </a:p>
          <a:p>
            <a:pPr marL="457200" indent="-457200">
              <a:lnSpc>
                <a:spcPct val="150000"/>
              </a:lnSpc>
              <a:buFont typeface="+mj-lt"/>
              <a:buAutoNum type="arabicPeriod"/>
            </a:pPr>
            <a:r>
              <a:rPr lang="en-IN" sz="2000" dirty="0">
                <a:solidFill>
                  <a:schemeClr val="bg1"/>
                </a:solidFill>
                <a:latin typeface="Merriweather" panose="00000500000000000000" pitchFamily="2" charset="0"/>
              </a:rPr>
              <a:t>mux 2to1</a:t>
            </a:r>
          </a:p>
          <a:p>
            <a:pPr marL="342900" indent="-342900">
              <a:lnSpc>
                <a:spcPct val="150000"/>
              </a:lnSpc>
              <a:buFont typeface="+mj-lt"/>
              <a:buAutoNum type="arabicPeriod"/>
            </a:pPr>
            <a:r>
              <a:rPr lang="en-IN" sz="2000" dirty="0">
                <a:solidFill>
                  <a:schemeClr val="bg1"/>
                </a:solidFill>
                <a:latin typeface="Merriweather" panose="00000500000000000000" pitchFamily="2" charset="0"/>
              </a:rPr>
              <a:t>UAS </a:t>
            </a:r>
          </a:p>
          <a:p>
            <a:pPr marL="342900" indent="-342900">
              <a:lnSpc>
                <a:spcPct val="150000"/>
              </a:lnSpc>
              <a:buFont typeface="+mj-lt"/>
              <a:buAutoNum type="arabicPeriod"/>
            </a:pPr>
            <a:r>
              <a:rPr lang="en-IN" sz="2000" dirty="0">
                <a:solidFill>
                  <a:schemeClr val="bg1"/>
                </a:solidFill>
                <a:latin typeface="Merriweather" panose="00000500000000000000" pitchFamily="2" charset="0"/>
              </a:rPr>
              <a:t>Top_16 </a:t>
            </a:r>
          </a:p>
          <a:p>
            <a:pPr marL="342900" indent="-342900">
              <a:lnSpc>
                <a:spcPct val="150000"/>
              </a:lnSpc>
              <a:buFont typeface="+mj-lt"/>
              <a:buAutoNum type="arabicPeriod"/>
            </a:pPr>
            <a:r>
              <a:rPr lang="en-IN" sz="2000" dirty="0">
                <a:solidFill>
                  <a:schemeClr val="bg1"/>
                </a:solidFill>
                <a:latin typeface="Merriweather" panose="00000500000000000000" pitchFamily="2" charset="0"/>
              </a:rPr>
              <a:t>Top_32</a:t>
            </a:r>
          </a:p>
        </p:txBody>
      </p:sp>
      <p:sp>
        <p:nvSpPr>
          <p:cNvPr id="5" name="TextBox 4">
            <a:extLst>
              <a:ext uri="{FF2B5EF4-FFF2-40B4-BE49-F238E27FC236}">
                <a16:creationId xmlns:a16="http://schemas.microsoft.com/office/drawing/2014/main" id="{A1B86FB7-DE64-380B-F38B-3C47550FA5A4}"/>
              </a:ext>
            </a:extLst>
          </p:cNvPr>
          <p:cNvSpPr txBox="1"/>
          <p:nvPr/>
        </p:nvSpPr>
        <p:spPr>
          <a:xfrm>
            <a:off x="903249" y="6832007"/>
            <a:ext cx="7315200" cy="400110"/>
          </a:xfrm>
          <a:prstGeom prst="rect">
            <a:avLst/>
          </a:prstGeom>
          <a:noFill/>
        </p:spPr>
        <p:txBody>
          <a:bodyPr wrap="square">
            <a:spAutoFit/>
          </a:bodyPr>
          <a:lstStyle/>
          <a:p>
            <a:r>
              <a:rPr lang="en-IN" sz="2000" u="sng" dirty="0">
                <a:solidFill>
                  <a:schemeClr val="bg1"/>
                </a:solidFill>
                <a:latin typeface="Merriweather" panose="00000500000000000000" pitchFamily="2" charset="0"/>
              </a:rPr>
              <a:t>Test Bench for Verification</a:t>
            </a:r>
          </a:p>
        </p:txBody>
      </p:sp>
      <p:sp>
        <p:nvSpPr>
          <p:cNvPr id="6" name="TextBox 5">
            <a:extLst>
              <a:ext uri="{FF2B5EF4-FFF2-40B4-BE49-F238E27FC236}">
                <a16:creationId xmlns:a16="http://schemas.microsoft.com/office/drawing/2014/main" id="{B9D7FEE3-E456-D83C-D726-723CD2808A18}"/>
              </a:ext>
            </a:extLst>
          </p:cNvPr>
          <p:cNvSpPr txBox="1"/>
          <p:nvPr/>
        </p:nvSpPr>
        <p:spPr>
          <a:xfrm>
            <a:off x="903249" y="7305963"/>
            <a:ext cx="4427035" cy="400110"/>
          </a:xfrm>
          <a:prstGeom prst="rect">
            <a:avLst/>
          </a:prstGeom>
          <a:noFill/>
        </p:spPr>
        <p:txBody>
          <a:bodyPr wrap="square" rtlCol="0">
            <a:spAutoFit/>
          </a:bodyPr>
          <a:lstStyle/>
          <a:p>
            <a:pPr marL="457200" indent="-457200">
              <a:buFont typeface="+mj-lt"/>
              <a:buAutoNum type="arabicPeriod"/>
            </a:pPr>
            <a:r>
              <a:rPr lang="en-IN" sz="2000" dirty="0">
                <a:solidFill>
                  <a:schemeClr val="bg1"/>
                </a:solidFill>
                <a:latin typeface="Merriweather" panose="00000500000000000000" pitchFamily="2" charset="0"/>
              </a:rPr>
              <a:t>Tb_top_32 </a:t>
            </a:r>
          </a:p>
        </p:txBody>
      </p:sp>
      <p:sp>
        <p:nvSpPr>
          <p:cNvPr id="8" name="TextBox 7">
            <a:extLst>
              <a:ext uri="{FF2B5EF4-FFF2-40B4-BE49-F238E27FC236}">
                <a16:creationId xmlns:a16="http://schemas.microsoft.com/office/drawing/2014/main" id="{FB0226C1-61D7-3CCD-C4AE-584EB520FDDC}"/>
              </a:ext>
            </a:extLst>
          </p:cNvPr>
          <p:cNvSpPr txBox="1"/>
          <p:nvPr/>
        </p:nvSpPr>
        <p:spPr>
          <a:xfrm>
            <a:off x="9712712" y="3483391"/>
            <a:ext cx="4449337" cy="2967607"/>
          </a:xfrm>
          <a:prstGeom prst="rect">
            <a:avLst/>
          </a:prstGeom>
          <a:noFill/>
        </p:spPr>
        <p:txBody>
          <a:bodyPr wrap="square">
            <a:spAutoFit/>
          </a:bodyPr>
          <a:lstStyle/>
          <a:p>
            <a:pPr>
              <a:lnSpc>
                <a:spcPct val="200000"/>
              </a:lnSpc>
            </a:pPr>
            <a:r>
              <a:rPr lang="en-IN" sz="2000" u="sng" dirty="0">
                <a:solidFill>
                  <a:schemeClr val="bg1"/>
                </a:solidFill>
                <a:latin typeface="Merriweather" panose="00000500000000000000" pitchFamily="2" charset="0"/>
              </a:rPr>
              <a:t>With Clock Gating </a:t>
            </a:r>
          </a:p>
          <a:p>
            <a:pPr marL="457200" indent="-457200">
              <a:lnSpc>
                <a:spcPct val="150000"/>
              </a:lnSpc>
              <a:buFont typeface="+mj-lt"/>
              <a:buAutoNum type="arabicPeriod"/>
            </a:pPr>
            <a:r>
              <a:rPr lang="en-IN" sz="2000" dirty="0" err="1">
                <a:solidFill>
                  <a:schemeClr val="bg1"/>
                </a:solidFill>
                <a:latin typeface="Merriweather" panose="00000500000000000000" pitchFamily="2" charset="0"/>
              </a:rPr>
              <a:t>flipflop_based_clk</a:t>
            </a:r>
            <a:endParaRPr lang="en-IN" sz="2000" dirty="0">
              <a:solidFill>
                <a:schemeClr val="bg1"/>
              </a:solidFill>
              <a:latin typeface="Merriweather" panose="00000500000000000000" pitchFamily="2" charset="0"/>
            </a:endParaRPr>
          </a:p>
          <a:p>
            <a:pPr marL="457200" indent="-457200">
              <a:lnSpc>
                <a:spcPct val="150000"/>
              </a:lnSpc>
              <a:buFont typeface="+mj-lt"/>
              <a:buAutoNum type="arabicPeriod"/>
            </a:pPr>
            <a:r>
              <a:rPr lang="en-IN" sz="2000" dirty="0">
                <a:solidFill>
                  <a:schemeClr val="bg1"/>
                </a:solidFill>
                <a:latin typeface="Merriweather" panose="00000500000000000000" pitchFamily="2" charset="0"/>
              </a:rPr>
              <a:t>mux 2to1</a:t>
            </a:r>
          </a:p>
          <a:p>
            <a:pPr marL="342900" indent="-342900">
              <a:lnSpc>
                <a:spcPct val="150000"/>
              </a:lnSpc>
              <a:buFont typeface="+mj-lt"/>
              <a:buAutoNum type="arabicPeriod"/>
            </a:pPr>
            <a:r>
              <a:rPr lang="en-IN" sz="2000" dirty="0">
                <a:solidFill>
                  <a:schemeClr val="bg1"/>
                </a:solidFill>
                <a:latin typeface="Merriweather" panose="00000500000000000000" pitchFamily="2" charset="0"/>
              </a:rPr>
              <a:t>UAS </a:t>
            </a:r>
          </a:p>
          <a:p>
            <a:pPr marL="342900" indent="-342900">
              <a:lnSpc>
                <a:spcPct val="150000"/>
              </a:lnSpc>
              <a:buFont typeface="+mj-lt"/>
              <a:buAutoNum type="arabicPeriod"/>
            </a:pPr>
            <a:r>
              <a:rPr lang="en-IN" sz="2000" dirty="0">
                <a:solidFill>
                  <a:schemeClr val="bg1"/>
                </a:solidFill>
                <a:latin typeface="Merriweather" panose="00000500000000000000" pitchFamily="2" charset="0"/>
              </a:rPr>
              <a:t>Top_16 </a:t>
            </a:r>
          </a:p>
          <a:p>
            <a:pPr marL="342900" indent="-342900">
              <a:lnSpc>
                <a:spcPct val="150000"/>
              </a:lnSpc>
              <a:buFont typeface="+mj-lt"/>
              <a:buAutoNum type="arabicPeriod"/>
            </a:pPr>
            <a:r>
              <a:rPr lang="en-IN" sz="2000" dirty="0">
                <a:solidFill>
                  <a:schemeClr val="bg1"/>
                </a:solidFill>
                <a:latin typeface="Merriweather" panose="00000500000000000000" pitchFamily="2" charset="0"/>
              </a:rPr>
              <a:t>Top_32</a:t>
            </a:r>
          </a:p>
        </p:txBody>
      </p:sp>
      <p:sp>
        <p:nvSpPr>
          <p:cNvPr id="10" name="TextBox 9">
            <a:extLst>
              <a:ext uri="{FF2B5EF4-FFF2-40B4-BE49-F238E27FC236}">
                <a16:creationId xmlns:a16="http://schemas.microsoft.com/office/drawing/2014/main" id="{5A790E96-ECF4-B9E5-E3F5-6345C12E2ED3}"/>
              </a:ext>
            </a:extLst>
          </p:cNvPr>
          <p:cNvSpPr txBox="1"/>
          <p:nvPr/>
        </p:nvSpPr>
        <p:spPr>
          <a:xfrm>
            <a:off x="9712712" y="6878173"/>
            <a:ext cx="7315200" cy="400110"/>
          </a:xfrm>
          <a:prstGeom prst="rect">
            <a:avLst/>
          </a:prstGeom>
          <a:noFill/>
        </p:spPr>
        <p:txBody>
          <a:bodyPr wrap="square">
            <a:spAutoFit/>
          </a:bodyPr>
          <a:lstStyle/>
          <a:p>
            <a:r>
              <a:rPr lang="en-IN" sz="2000" u="sng" dirty="0">
                <a:solidFill>
                  <a:schemeClr val="bg1"/>
                </a:solidFill>
                <a:latin typeface="Merriweather" panose="00000500000000000000" pitchFamily="2" charset="0"/>
              </a:rPr>
              <a:t>Test Bench for Verification</a:t>
            </a:r>
          </a:p>
        </p:txBody>
      </p:sp>
      <p:sp>
        <p:nvSpPr>
          <p:cNvPr id="12" name="TextBox 11">
            <a:extLst>
              <a:ext uri="{FF2B5EF4-FFF2-40B4-BE49-F238E27FC236}">
                <a16:creationId xmlns:a16="http://schemas.microsoft.com/office/drawing/2014/main" id="{D0A13AFB-276A-49CF-97EE-345D3CA4B686}"/>
              </a:ext>
            </a:extLst>
          </p:cNvPr>
          <p:cNvSpPr txBox="1"/>
          <p:nvPr/>
        </p:nvSpPr>
        <p:spPr>
          <a:xfrm>
            <a:off x="9712712" y="7336741"/>
            <a:ext cx="8514080" cy="369332"/>
          </a:xfrm>
          <a:prstGeom prst="rect">
            <a:avLst/>
          </a:prstGeom>
          <a:noFill/>
        </p:spPr>
        <p:txBody>
          <a:bodyPr wrap="square">
            <a:spAutoFit/>
          </a:bodyPr>
          <a:lstStyle/>
          <a:p>
            <a:pPr marL="457200" indent="-457200">
              <a:buFont typeface="+mj-lt"/>
              <a:buAutoNum type="arabicPeriod"/>
            </a:pPr>
            <a:r>
              <a:rPr lang="en-IN" dirty="0" err="1">
                <a:solidFill>
                  <a:schemeClr val="bg1"/>
                </a:solidFill>
                <a:latin typeface="Merriweather" panose="00000500000000000000" pitchFamily="2" charset="0"/>
              </a:rPr>
              <a:t>Top_tb</a:t>
            </a:r>
            <a:endParaRPr lang="en-IN" sz="1800" dirty="0">
              <a:solidFill>
                <a:schemeClr val="bg1"/>
              </a:solidFill>
              <a:latin typeface="Merriweather" panose="00000500000000000000" pitchFamily="2" charset="0"/>
            </a:endParaRPr>
          </a:p>
        </p:txBody>
      </p:sp>
    </p:spTree>
    <p:extLst>
      <p:ext uri="{BB962C8B-B14F-4D97-AF65-F5344CB8AC3E}">
        <p14:creationId xmlns:p14="http://schemas.microsoft.com/office/powerpoint/2010/main" val="2071494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2900779" y="590054"/>
            <a:ext cx="8520232" cy="771287"/>
          </a:xfrm>
          <a:prstGeom prst="rect">
            <a:avLst/>
          </a:prstGeom>
          <a:noFill/>
          <a:ln/>
        </p:spPr>
        <p:txBody>
          <a:bodyPr wrap="none" lIns="0" tIns="0" rIns="0" bIns="0" rtlCol="0" anchor="t"/>
          <a:lstStyle/>
          <a:p>
            <a:pPr marL="0" indent="0" algn="ctr">
              <a:lnSpc>
                <a:spcPts val="6050"/>
              </a:lnSpc>
              <a:buNone/>
            </a:pPr>
            <a:r>
              <a:rPr lang="en-US" sz="4850" dirty="0">
                <a:solidFill>
                  <a:srgbClr val="F5F0F0"/>
                </a:solidFill>
                <a:latin typeface="Merriweather" pitchFamily="34" charset="0"/>
                <a:ea typeface="Merriweather" pitchFamily="34" charset="-122"/>
                <a:cs typeface="Merriweather" pitchFamily="34" charset="-120"/>
              </a:rPr>
              <a:t>Software &amp; Hardware Details</a:t>
            </a:r>
            <a:endParaRPr lang="en-US" sz="4850" dirty="0"/>
          </a:p>
        </p:txBody>
      </p:sp>
      <p:sp>
        <p:nvSpPr>
          <p:cNvPr id="3" name="Shape 1"/>
          <p:cNvSpPr/>
          <p:nvPr/>
        </p:nvSpPr>
        <p:spPr>
          <a:xfrm>
            <a:off x="1267945" y="2510660"/>
            <a:ext cx="123349" cy="123349"/>
          </a:xfrm>
          <a:prstGeom prst="roundRect">
            <a:avLst>
              <a:gd name="adj" fmla="val 370656"/>
            </a:avLst>
          </a:prstGeom>
          <a:solidFill>
            <a:srgbClr val="9FA582"/>
          </a:solidFill>
          <a:ln/>
        </p:spPr>
        <p:txBody>
          <a:bodyPr/>
          <a:lstStyle/>
          <a:p>
            <a:endParaRPr lang="en-IN"/>
          </a:p>
        </p:txBody>
      </p:sp>
      <p:sp>
        <p:nvSpPr>
          <p:cNvPr id="4" name="Text 2"/>
          <p:cNvSpPr/>
          <p:nvPr/>
        </p:nvSpPr>
        <p:spPr>
          <a:xfrm>
            <a:off x="1713466" y="2379573"/>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Software</a:t>
            </a:r>
            <a:endParaRPr lang="en-US" sz="2400" dirty="0"/>
          </a:p>
        </p:txBody>
      </p:sp>
      <p:sp>
        <p:nvSpPr>
          <p:cNvPr id="5" name="Text 3"/>
          <p:cNvSpPr/>
          <p:nvPr/>
        </p:nvSpPr>
        <p:spPr>
          <a:xfrm>
            <a:off x="1713466" y="3036808"/>
            <a:ext cx="5926931" cy="3144536"/>
          </a:xfrm>
          <a:prstGeom prst="rect">
            <a:avLst/>
          </a:prstGeom>
          <a:noFill/>
          <a:ln/>
        </p:spPr>
        <p:txBody>
          <a:bodyPr wrap="square" lIns="0" tIns="0" rIns="0" bIns="0" rtlCol="0" anchor="t"/>
          <a:lstStyle/>
          <a:p>
            <a:pPr marL="342900" indent="-342900">
              <a:lnSpc>
                <a:spcPts val="3100"/>
              </a:lnSpc>
              <a:buSzPct val="100000"/>
              <a:buChar char="•"/>
            </a:pPr>
            <a:r>
              <a:rPr lang="en-US" sz="1900" b="1" dirty="0" err="1">
                <a:solidFill>
                  <a:srgbClr val="E2E6E9"/>
                </a:solidFill>
                <a:latin typeface="Merriweather" pitchFamily="34" charset="0"/>
                <a:ea typeface="Merriweather" pitchFamily="34" charset="-122"/>
                <a:cs typeface="Merriweather" pitchFamily="34" charset="-120"/>
              </a:rPr>
              <a:t>Vivado</a:t>
            </a:r>
            <a:r>
              <a:rPr lang="en-US" sz="1900" b="1" dirty="0">
                <a:solidFill>
                  <a:srgbClr val="E2E6E9"/>
                </a:solidFill>
                <a:latin typeface="Merriweather" pitchFamily="34" charset="0"/>
                <a:ea typeface="Merriweather" pitchFamily="34" charset="-122"/>
                <a:cs typeface="Merriweather" pitchFamily="34" charset="-120"/>
              </a:rPr>
              <a:t> 2020.3:</a:t>
            </a:r>
            <a:r>
              <a:rPr lang="en-US" sz="1900" dirty="0">
                <a:solidFill>
                  <a:srgbClr val="E2E6E9"/>
                </a:solidFill>
                <a:latin typeface="Merriweather" pitchFamily="34" charset="0"/>
                <a:ea typeface="Merriweather" pitchFamily="34" charset="-122"/>
                <a:cs typeface="Merriweather" pitchFamily="34" charset="-120"/>
              </a:rPr>
              <a:t> For HDL simulation &amp; synthesis.</a:t>
            </a:r>
          </a:p>
          <a:p>
            <a:pPr marL="342900" indent="-342900">
              <a:lnSpc>
                <a:spcPts val="3100"/>
              </a:lnSpc>
              <a:buSzPct val="100000"/>
              <a:buChar char="•"/>
            </a:pPr>
            <a:r>
              <a:rPr lang="en-US" sz="1900" b="1" dirty="0">
                <a:solidFill>
                  <a:srgbClr val="E2E6E9"/>
                </a:solidFill>
                <a:latin typeface="Merriweather" pitchFamily="34" charset="0"/>
              </a:rPr>
              <a:t>FPGA  Family :</a:t>
            </a:r>
            <a:r>
              <a:rPr lang="en-US" sz="1900" dirty="0">
                <a:solidFill>
                  <a:srgbClr val="E2E6E9"/>
                </a:solidFill>
                <a:latin typeface="Merriweather" pitchFamily="34" charset="0"/>
              </a:rPr>
              <a:t> </a:t>
            </a:r>
            <a:r>
              <a:rPr lang="en-US" sz="1900" dirty="0" err="1">
                <a:solidFill>
                  <a:srgbClr val="E2E6E9"/>
                </a:solidFill>
                <a:latin typeface="Merriweather" pitchFamily="34" charset="0"/>
              </a:rPr>
              <a:t>Artix</a:t>
            </a:r>
            <a:r>
              <a:rPr lang="en-US" sz="1900" dirty="0">
                <a:solidFill>
                  <a:srgbClr val="E2E6E9"/>
                </a:solidFill>
                <a:latin typeface="Merriweather" pitchFamily="34" charset="0"/>
              </a:rPr>
              <a:t> - 7 </a:t>
            </a:r>
          </a:p>
          <a:p>
            <a:pPr marL="342900" indent="-342900">
              <a:lnSpc>
                <a:spcPts val="3100"/>
              </a:lnSpc>
              <a:buSzPct val="100000"/>
              <a:buChar char="•"/>
            </a:pPr>
            <a:r>
              <a:rPr lang="en-US" sz="1900" b="1" dirty="0">
                <a:solidFill>
                  <a:srgbClr val="E2E6E9"/>
                </a:solidFill>
                <a:latin typeface="Merriweather" pitchFamily="34" charset="0"/>
              </a:rPr>
              <a:t>Device: </a:t>
            </a:r>
            <a:r>
              <a:rPr lang="en-US" sz="1900" dirty="0">
                <a:solidFill>
                  <a:srgbClr val="E2E6E9"/>
                </a:solidFill>
                <a:latin typeface="Merriweather" pitchFamily="34" charset="0"/>
              </a:rPr>
              <a:t>XC7A200TFBG676-2</a:t>
            </a:r>
          </a:p>
          <a:p>
            <a:pPr marL="342900" indent="-342900">
              <a:lnSpc>
                <a:spcPts val="3100"/>
              </a:lnSpc>
              <a:buSzPct val="100000"/>
              <a:buChar char="•"/>
            </a:pPr>
            <a:r>
              <a:rPr lang="en-US" sz="1900" b="1" dirty="0">
                <a:solidFill>
                  <a:srgbClr val="E2E6E9"/>
                </a:solidFill>
                <a:latin typeface="Merriweather" pitchFamily="34" charset="0"/>
              </a:rPr>
              <a:t>Package: </a:t>
            </a:r>
            <a:r>
              <a:rPr lang="en-US" sz="1900" dirty="0">
                <a:solidFill>
                  <a:srgbClr val="E2E6E9"/>
                </a:solidFill>
                <a:latin typeface="Merriweather" pitchFamily="34" charset="0"/>
              </a:rPr>
              <a:t>FBG676</a:t>
            </a:r>
          </a:p>
          <a:p>
            <a:pPr marL="342900" indent="-342900">
              <a:lnSpc>
                <a:spcPts val="3100"/>
              </a:lnSpc>
              <a:buSzPct val="100000"/>
              <a:buChar char="•"/>
            </a:pPr>
            <a:r>
              <a:rPr lang="en-US" sz="1900" b="1" dirty="0">
                <a:solidFill>
                  <a:srgbClr val="E2E6E9"/>
                </a:solidFill>
                <a:latin typeface="Merriweather" pitchFamily="34" charset="0"/>
              </a:rPr>
              <a:t>Speed Grade: </a:t>
            </a:r>
            <a:r>
              <a:rPr lang="en-US" sz="1900" dirty="0">
                <a:solidFill>
                  <a:srgbClr val="E2E6E9"/>
                </a:solidFill>
                <a:latin typeface="Merriweather" pitchFamily="34" charset="0"/>
              </a:rPr>
              <a:t>-2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2B06A7-F081-4433-E385-A694D541FC31}"/>
              </a:ext>
            </a:extLst>
          </p:cNvPr>
          <p:cNvSpPr txBox="1"/>
          <p:nvPr/>
        </p:nvSpPr>
        <p:spPr>
          <a:xfrm>
            <a:off x="6052323" y="156111"/>
            <a:ext cx="2525754" cy="830997"/>
          </a:xfrm>
          <a:prstGeom prst="rect">
            <a:avLst/>
          </a:prstGeom>
          <a:noFill/>
        </p:spPr>
        <p:txBody>
          <a:bodyPr wrap="square" rtlCol="0">
            <a:spAutoFit/>
          </a:bodyPr>
          <a:lstStyle/>
          <a:p>
            <a:r>
              <a:rPr lang="en-IN" sz="4800" dirty="0">
                <a:solidFill>
                  <a:schemeClr val="bg1"/>
                </a:solidFill>
                <a:latin typeface="Merriweather" panose="00000500000000000000" pitchFamily="2" charset="0"/>
              </a:rPr>
              <a:t>Results</a:t>
            </a:r>
          </a:p>
        </p:txBody>
      </p:sp>
      <p:sp>
        <p:nvSpPr>
          <p:cNvPr id="6" name="TextBox 5">
            <a:extLst>
              <a:ext uri="{FF2B5EF4-FFF2-40B4-BE49-F238E27FC236}">
                <a16:creationId xmlns:a16="http://schemas.microsoft.com/office/drawing/2014/main" id="{EC9E9389-4F35-7ADE-190A-9D294BC1F0D1}"/>
              </a:ext>
            </a:extLst>
          </p:cNvPr>
          <p:cNvSpPr txBox="1"/>
          <p:nvPr/>
        </p:nvSpPr>
        <p:spPr>
          <a:xfrm>
            <a:off x="5503126" y="1917588"/>
            <a:ext cx="4070195" cy="400110"/>
          </a:xfrm>
          <a:prstGeom prst="rect">
            <a:avLst/>
          </a:prstGeom>
          <a:noFill/>
        </p:spPr>
        <p:txBody>
          <a:bodyPr wrap="square" rtlCol="0">
            <a:spAutoFit/>
          </a:bodyPr>
          <a:lstStyle/>
          <a:p>
            <a:r>
              <a:rPr lang="en-IN" sz="2000" dirty="0">
                <a:solidFill>
                  <a:schemeClr val="bg1"/>
                </a:solidFill>
                <a:latin typeface="Merriweather" panose="00000500000000000000" pitchFamily="2" charset="0"/>
              </a:rPr>
              <a:t>Simulation Waveform</a:t>
            </a:r>
          </a:p>
        </p:txBody>
      </p:sp>
      <p:sp>
        <p:nvSpPr>
          <p:cNvPr id="4" name="TextBox 3">
            <a:extLst>
              <a:ext uri="{FF2B5EF4-FFF2-40B4-BE49-F238E27FC236}">
                <a16:creationId xmlns:a16="http://schemas.microsoft.com/office/drawing/2014/main" id="{61CD1227-90C2-7DD6-DCD3-F3FDAA0C32C6}"/>
              </a:ext>
            </a:extLst>
          </p:cNvPr>
          <p:cNvSpPr txBox="1"/>
          <p:nvPr/>
        </p:nvSpPr>
        <p:spPr>
          <a:xfrm>
            <a:off x="1048214" y="1191847"/>
            <a:ext cx="9421665" cy="400110"/>
          </a:xfrm>
          <a:prstGeom prst="rect">
            <a:avLst/>
          </a:prstGeom>
          <a:noFill/>
        </p:spPr>
        <p:txBody>
          <a:bodyPr wrap="square" rtlCol="0">
            <a:spAutoFit/>
          </a:bodyPr>
          <a:lstStyle/>
          <a:p>
            <a:r>
              <a:rPr lang="en-IN" sz="2000" b="1" dirty="0">
                <a:solidFill>
                  <a:schemeClr val="bg1"/>
                </a:solidFill>
                <a:latin typeface="Merriweather" panose="00000500000000000000" pitchFamily="2" charset="0"/>
              </a:rPr>
              <a:t>Base Results</a:t>
            </a:r>
            <a:r>
              <a:rPr lang="en-IN" sz="2000" dirty="0">
                <a:solidFill>
                  <a:schemeClr val="bg1"/>
                </a:solidFill>
                <a:latin typeface="Merriweather" panose="00000500000000000000" pitchFamily="2" charset="0"/>
              </a:rPr>
              <a:t>: The Proposed 32-Point Architecture Without Clock Gating</a:t>
            </a:r>
          </a:p>
        </p:txBody>
      </p:sp>
      <p:pic>
        <p:nvPicPr>
          <p:cNvPr id="3" name="Picture 2">
            <a:extLst>
              <a:ext uri="{FF2B5EF4-FFF2-40B4-BE49-F238E27FC236}">
                <a16:creationId xmlns:a16="http://schemas.microsoft.com/office/drawing/2014/main" id="{ECD49BEB-38D7-733F-6123-0B084D42C79F}"/>
              </a:ext>
            </a:extLst>
          </p:cNvPr>
          <p:cNvPicPr/>
          <p:nvPr/>
        </p:nvPicPr>
        <p:blipFill>
          <a:blip r:embed="rId2"/>
          <a:stretch>
            <a:fillRect/>
          </a:stretch>
        </p:blipFill>
        <p:spPr>
          <a:xfrm>
            <a:off x="2313992" y="2643329"/>
            <a:ext cx="10319658" cy="4876204"/>
          </a:xfrm>
          <a:prstGeom prst="rect">
            <a:avLst/>
          </a:prstGeom>
        </p:spPr>
      </p:pic>
    </p:spTree>
    <p:extLst>
      <p:ext uri="{BB962C8B-B14F-4D97-AF65-F5344CB8AC3E}">
        <p14:creationId xmlns:p14="http://schemas.microsoft.com/office/powerpoint/2010/main" val="2807234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694A98-FC3D-55D9-676E-7AB3C2548E28}"/>
              </a:ext>
            </a:extLst>
          </p:cNvPr>
          <p:cNvSpPr txBox="1"/>
          <p:nvPr/>
        </p:nvSpPr>
        <p:spPr>
          <a:xfrm>
            <a:off x="5503126" y="1917588"/>
            <a:ext cx="4070195" cy="400110"/>
          </a:xfrm>
          <a:prstGeom prst="rect">
            <a:avLst/>
          </a:prstGeom>
          <a:noFill/>
        </p:spPr>
        <p:txBody>
          <a:bodyPr wrap="square" rtlCol="0">
            <a:spAutoFit/>
          </a:bodyPr>
          <a:lstStyle/>
          <a:p>
            <a:r>
              <a:rPr lang="en-IN" sz="2000" dirty="0">
                <a:solidFill>
                  <a:schemeClr val="bg1"/>
                </a:solidFill>
                <a:latin typeface="Merriweather" panose="00000500000000000000" pitchFamily="2" charset="0"/>
              </a:rPr>
              <a:t>Simulation Waveform</a:t>
            </a:r>
          </a:p>
        </p:txBody>
      </p:sp>
      <p:sp>
        <p:nvSpPr>
          <p:cNvPr id="4" name="TextBox 3">
            <a:extLst>
              <a:ext uri="{FF2B5EF4-FFF2-40B4-BE49-F238E27FC236}">
                <a16:creationId xmlns:a16="http://schemas.microsoft.com/office/drawing/2014/main" id="{8D78D966-6E71-4D7E-016F-2D368C8E65FB}"/>
              </a:ext>
            </a:extLst>
          </p:cNvPr>
          <p:cNvSpPr txBox="1"/>
          <p:nvPr/>
        </p:nvSpPr>
        <p:spPr>
          <a:xfrm>
            <a:off x="1048214" y="1191847"/>
            <a:ext cx="9421665" cy="707886"/>
          </a:xfrm>
          <a:prstGeom prst="rect">
            <a:avLst/>
          </a:prstGeom>
          <a:noFill/>
        </p:spPr>
        <p:txBody>
          <a:bodyPr wrap="square" rtlCol="0">
            <a:spAutoFit/>
          </a:bodyPr>
          <a:lstStyle/>
          <a:p>
            <a:r>
              <a:rPr lang="en-IN" sz="2000" b="1" dirty="0" err="1">
                <a:solidFill>
                  <a:schemeClr val="bg1"/>
                </a:solidFill>
                <a:latin typeface="Merriweather" panose="00000500000000000000" pitchFamily="2" charset="0"/>
              </a:rPr>
              <a:t>Extention</a:t>
            </a:r>
            <a:r>
              <a:rPr lang="en-IN" sz="2000" b="1" dirty="0">
                <a:solidFill>
                  <a:schemeClr val="bg1"/>
                </a:solidFill>
                <a:latin typeface="Merriweather" panose="00000500000000000000" pitchFamily="2" charset="0"/>
              </a:rPr>
              <a:t> Results</a:t>
            </a:r>
            <a:r>
              <a:rPr lang="en-IN" sz="2000" dirty="0">
                <a:solidFill>
                  <a:schemeClr val="bg1"/>
                </a:solidFill>
                <a:latin typeface="Merriweather" panose="00000500000000000000" pitchFamily="2" charset="0"/>
              </a:rPr>
              <a:t>: The Proposed 32-Point Architecture With Clock Gating</a:t>
            </a:r>
          </a:p>
        </p:txBody>
      </p:sp>
      <p:pic>
        <p:nvPicPr>
          <p:cNvPr id="7" name="Picture 6">
            <a:extLst>
              <a:ext uri="{FF2B5EF4-FFF2-40B4-BE49-F238E27FC236}">
                <a16:creationId xmlns:a16="http://schemas.microsoft.com/office/drawing/2014/main" id="{2B0E9F9E-8660-E7E0-8477-CD68127CAD96}"/>
              </a:ext>
            </a:extLst>
          </p:cNvPr>
          <p:cNvPicPr>
            <a:picLocks noChangeAspect="1"/>
          </p:cNvPicPr>
          <p:nvPr/>
        </p:nvPicPr>
        <p:blipFill>
          <a:blip r:embed="rId2"/>
          <a:stretch>
            <a:fillRect/>
          </a:stretch>
        </p:blipFill>
        <p:spPr>
          <a:xfrm>
            <a:off x="2118180" y="2514540"/>
            <a:ext cx="10840085" cy="4537710"/>
          </a:xfrm>
          <a:prstGeom prst="rect">
            <a:avLst/>
          </a:prstGeom>
        </p:spPr>
      </p:pic>
    </p:spTree>
    <p:extLst>
      <p:ext uri="{BB962C8B-B14F-4D97-AF65-F5344CB8AC3E}">
        <p14:creationId xmlns:p14="http://schemas.microsoft.com/office/powerpoint/2010/main" val="2169775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76E4A4-337E-A74B-588F-AF551C24CB02}"/>
              </a:ext>
            </a:extLst>
          </p:cNvPr>
          <p:cNvSpPr txBox="1"/>
          <p:nvPr/>
        </p:nvSpPr>
        <p:spPr>
          <a:xfrm flipH="1">
            <a:off x="2639485" y="987554"/>
            <a:ext cx="3928954" cy="369332"/>
          </a:xfrm>
          <a:prstGeom prst="rect">
            <a:avLst/>
          </a:prstGeom>
          <a:noFill/>
        </p:spPr>
        <p:txBody>
          <a:bodyPr wrap="square" rtlCol="0">
            <a:spAutoFit/>
          </a:bodyPr>
          <a:lstStyle/>
          <a:p>
            <a:r>
              <a:rPr lang="en-IN" dirty="0">
                <a:solidFill>
                  <a:schemeClr val="bg1"/>
                </a:solidFill>
                <a:latin typeface="Merriweather" panose="00000500000000000000" pitchFamily="2" charset="0"/>
              </a:rPr>
              <a:t>RTL Schematic of Without Clock</a:t>
            </a:r>
          </a:p>
        </p:txBody>
      </p:sp>
      <p:sp>
        <p:nvSpPr>
          <p:cNvPr id="3" name="TextBox 2">
            <a:extLst>
              <a:ext uri="{FF2B5EF4-FFF2-40B4-BE49-F238E27FC236}">
                <a16:creationId xmlns:a16="http://schemas.microsoft.com/office/drawing/2014/main" id="{3C7565A0-9ECD-182B-E6D8-2263480EBB70}"/>
              </a:ext>
            </a:extLst>
          </p:cNvPr>
          <p:cNvSpPr txBox="1"/>
          <p:nvPr/>
        </p:nvSpPr>
        <p:spPr>
          <a:xfrm>
            <a:off x="8845520" y="987554"/>
            <a:ext cx="4108479" cy="369332"/>
          </a:xfrm>
          <a:prstGeom prst="rect">
            <a:avLst/>
          </a:prstGeom>
          <a:noFill/>
        </p:spPr>
        <p:txBody>
          <a:bodyPr wrap="square" rtlCol="0">
            <a:spAutoFit/>
          </a:bodyPr>
          <a:lstStyle/>
          <a:p>
            <a:r>
              <a:rPr lang="en-IN" dirty="0">
                <a:solidFill>
                  <a:schemeClr val="bg1"/>
                </a:solidFill>
                <a:latin typeface="Merriweather" panose="00000500000000000000" pitchFamily="2" charset="0"/>
              </a:rPr>
              <a:t>RTL Schematic of  Without Clock</a:t>
            </a:r>
          </a:p>
        </p:txBody>
      </p:sp>
      <p:pic>
        <p:nvPicPr>
          <p:cNvPr id="4" name="Picture 3">
            <a:extLst>
              <a:ext uri="{FF2B5EF4-FFF2-40B4-BE49-F238E27FC236}">
                <a16:creationId xmlns:a16="http://schemas.microsoft.com/office/drawing/2014/main" id="{BD2AFA5D-1097-6DA7-696B-3FFD765BE65C}"/>
              </a:ext>
            </a:extLst>
          </p:cNvPr>
          <p:cNvPicPr>
            <a:picLocks noChangeAspect="1"/>
          </p:cNvPicPr>
          <p:nvPr/>
        </p:nvPicPr>
        <p:blipFill>
          <a:blip r:embed="rId2"/>
          <a:stretch>
            <a:fillRect/>
          </a:stretch>
        </p:blipFill>
        <p:spPr>
          <a:xfrm>
            <a:off x="669290" y="1520723"/>
            <a:ext cx="6645910" cy="5977054"/>
          </a:xfrm>
          <a:prstGeom prst="rect">
            <a:avLst/>
          </a:prstGeom>
        </p:spPr>
      </p:pic>
      <p:pic>
        <p:nvPicPr>
          <p:cNvPr id="6" name="Picture 5">
            <a:extLst>
              <a:ext uri="{FF2B5EF4-FFF2-40B4-BE49-F238E27FC236}">
                <a16:creationId xmlns:a16="http://schemas.microsoft.com/office/drawing/2014/main" id="{3B7F42F1-B8F6-BE92-1182-0ECBDC4F7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2558" y="1520723"/>
            <a:ext cx="6445429" cy="5977054"/>
          </a:xfrm>
          <a:prstGeom prst="rect">
            <a:avLst/>
          </a:prstGeom>
        </p:spPr>
      </p:pic>
    </p:spTree>
    <p:extLst>
      <p:ext uri="{BB962C8B-B14F-4D97-AF65-F5344CB8AC3E}">
        <p14:creationId xmlns:p14="http://schemas.microsoft.com/office/powerpoint/2010/main" val="843270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8C87863-2A81-1FDD-A0AF-7852AC5719A9}"/>
              </a:ext>
            </a:extLst>
          </p:cNvPr>
          <p:cNvSpPr txBox="1"/>
          <p:nvPr/>
        </p:nvSpPr>
        <p:spPr>
          <a:xfrm flipH="1">
            <a:off x="1603163" y="987554"/>
            <a:ext cx="5391996" cy="369332"/>
          </a:xfrm>
          <a:prstGeom prst="rect">
            <a:avLst/>
          </a:prstGeom>
          <a:noFill/>
        </p:spPr>
        <p:txBody>
          <a:bodyPr wrap="square" rtlCol="0">
            <a:spAutoFit/>
          </a:bodyPr>
          <a:lstStyle/>
          <a:p>
            <a:r>
              <a:rPr lang="en-IN" dirty="0">
                <a:solidFill>
                  <a:schemeClr val="bg1"/>
                </a:solidFill>
                <a:latin typeface="Merriweather" panose="00000500000000000000" pitchFamily="2" charset="0"/>
              </a:rPr>
              <a:t>Technology Schematic Without Clock Gating</a:t>
            </a:r>
          </a:p>
        </p:txBody>
      </p:sp>
      <p:sp>
        <p:nvSpPr>
          <p:cNvPr id="8" name="TextBox 7">
            <a:extLst>
              <a:ext uri="{FF2B5EF4-FFF2-40B4-BE49-F238E27FC236}">
                <a16:creationId xmlns:a16="http://schemas.microsoft.com/office/drawing/2014/main" id="{903F3F56-099C-4529-1008-C4801FF5648D}"/>
              </a:ext>
            </a:extLst>
          </p:cNvPr>
          <p:cNvSpPr txBox="1"/>
          <p:nvPr/>
        </p:nvSpPr>
        <p:spPr>
          <a:xfrm>
            <a:off x="8438500" y="1033800"/>
            <a:ext cx="5038120" cy="369332"/>
          </a:xfrm>
          <a:prstGeom prst="rect">
            <a:avLst/>
          </a:prstGeom>
          <a:noFill/>
        </p:spPr>
        <p:txBody>
          <a:bodyPr wrap="square" rtlCol="0">
            <a:spAutoFit/>
          </a:bodyPr>
          <a:lstStyle/>
          <a:p>
            <a:r>
              <a:rPr lang="en-IN" dirty="0">
                <a:solidFill>
                  <a:schemeClr val="bg1"/>
                </a:solidFill>
                <a:latin typeface="Merriweather" panose="00000500000000000000" pitchFamily="2" charset="0"/>
              </a:rPr>
              <a:t>Technology Schematic With  Clock Gating</a:t>
            </a:r>
          </a:p>
        </p:txBody>
      </p:sp>
      <p:pic>
        <p:nvPicPr>
          <p:cNvPr id="9" name="Picture 8">
            <a:extLst>
              <a:ext uri="{FF2B5EF4-FFF2-40B4-BE49-F238E27FC236}">
                <a16:creationId xmlns:a16="http://schemas.microsoft.com/office/drawing/2014/main" id="{470136CC-2D83-199F-8E1F-F793BDED8E69}"/>
              </a:ext>
            </a:extLst>
          </p:cNvPr>
          <p:cNvPicPr>
            <a:picLocks noChangeAspect="1"/>
          </p:cNvPicPr>
          <p:nvPr/>
        </p:nvPicPr>
        <p:blipFill>
          <a:blip r:embed="rId2"/>
          <a:stretch>
            <a:fillRect/>
          </a:stretch>
        </p:blipFill>
        <p:spPr>
          <a:xfrm>
            <a:off x="1154163" y="1520723"/>
            <a:ext cx="5969956" cy="5977054"/>
          </a:xfrm>
          <a:prstGeom prst="rect">
            <a:avLst/>
          </a:prstGeom>
        </p:spPr>
      </p:pic>
      <p:pic>
        <p:nvPicPr>
          <p:cNvPr id="10" name="Picture 9">
            <a:extLst>
              <a:ext uri="{FF2B5EF4-FFF2-40B4-BE49-F238E27FC236}">
                <a16:creationId xmlns:a16="http://schemas.microsoft.com/office/drawing/2014/main" id="{5EEFD55B-B1FF-EAEF-1942-7B8051A627EC}"/>
              </a:ext>
            </a:extLst>
          </p:cNvPr>
          <p:cNvPicPr>
            <a:picLocks noChangeAspect="1"/>
          </p:cNvPicPr>
          <p:nvPr/>
        </p:nvPicPr>
        <p:blipFill rotWithShape="1">
          <a:blip r:embed="rId3"/>
          <a:srcRect t="-1" b="2339"/>
          <a:stretch/>
        </p:blipFill>
        <p:spPr bwMode="auto">
          <a:xfrm>
            <a:off x="8185785" y="1520723"/>
            <a:ext cx="5543550" cy="59770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45310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079AF7-EE08-50A0-3CF6-080855DBCDD4}"/>
              </a:ext>
            </a:extLst>
          </p:cNvPr>
          <p:cNvSpPr txBox="1"/>
          <p:nvPr/>
        </p:nvSpPr>
        <p:spPr>
          <a:xfrm>
            <a:off x="6560866" y="1391199"/>
            <a:ext cx="7315200" cy="588046"/>
          </a:xfrm>
          <a:prstGeom prst="rect">
            <a:avLst/>
          </a:prstGeom>
          <a:noFill/>
        </p:spPr>
        <p:txBody>
          <a:bodyPr wrap="square">
            <a:spAutoFit/>
          </a:bodyPr>
          <a:lstStyle/>
          <a:p>
            <a:pPr algn="just">
              <a:lnSpc>
                <a:spcPct val="150000"/>
              </a:lnSpc>
              <a:spcAft>
                <a:spcPts val="800"/>
              </a:spcAft>
              <a:buNone/>
            </a:pPr>
            <a:r>
              <a:rPr lang="en-GB" sz="2400" b="1" dirty="0">
                <a:solidFill>
                  <a:schemeClr val="bg1"/>
                </a:solidFill>
                <a:effectLst/>
                <a:latin typeface="Merriweather" panose="00000500000000000000" pitchFamily="2" charset="0"/>
                <a:ea typeface="Calibri" panose="020F0502020204030204" pitchFamily="34" charset="0"/>
                <a:cs typeface="Times New Roman" panose="02020603050405020304" pitchFamily="18" charset="0"/>
              </a:rPr>
              <a:t>Delay Analysis</a:t>
            </a:r>
            <a:endParaRPr lang="en-IN" sz="2400" dirty="0">
              <a:solidFill>
                <a:schemeClr val="bg1"/>
              </a:solidFill>
              <a:effectLst/>
              <a:latin typeface="Merriweather" panose="00000500000000000000" pitchFamily="2" charset="0"/>
              <a:ea typeface="Calibri" panose="020F0502020204030204" pitchFamily="34" charset="0"/>
              <a:cs typeface="Times New Roman" panose="02020603050405020304" pitchFamily="18" charset="0"/>
            </a:endParaRPr>
          </a:p>
        </p:txBody>
      </p:sp>
      <p:pic>
        <p:nvPicPr>
          <p:cNvPr id="2" name="Picture 1" descr="Y:\Kothakota Prakash\2025_2026\OCTOBER\TK196665_A New Input Grouping and Sharing Method to Design Low Complexity FFT Implementation\delay.png">
            <a:extLst>
              <a:ext uri="{FF2B5EF4-FFF2-40B4-BE49-F238E27FC236}">
                <a16:creationId xmlns:a16="http://schemas.microsoft.com/office/drawing/2014/main" id="{D5D773FB-0CA1-8B24-66CD-98ABF46A69C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41960" y="2377439"/>
            <a:ext cx="7086600" cy="3474721"/>
          </a:xfrm>
          <a:prstGeom prst="rect">
            <a:avLst/>
          </a:prstGeom>
          <a:noFill/>
          <a:ln>
            <a:noFill/>
          </a:ln>
        </p:spPr>
      </p:pic>
      <p:pic>
        <p:nvPicPr>
          <p:cNvPr id="3" name="Picture 2">
            <a:extLst>
              <a:ext uri="{FF2B5EF4-FFF2-40B4-BE49-F238E27FC236}">
                <a16:creationId xmlns:a16="http://schemas.microsoft.com/office/drawing/2014/main" id="{7565899D-54BB-7B80-424C-7CE9F635B83E}"/>
              </a:ext>
            </a:extLst>
          </p:cNvPr>
          <p:cNvPicPr>
            <a:picLocks noChangeAspect="1"/>
          </p:cNvPicPr>
          <p:nvPr/>
        </p:nvPicPr>
        <p:blipFill>
          <a:blip r:embed="rId3"/>
          <a:stretch>
            <a:fillRect/>
          </a:stretch>
        </p:blipFill>
        <p:spPr>
          <a:xfrm>
            <a:off x="7818120" y="2377439"/>
            <a:ext cx="6568439" cy="3474721"/>
          </a:xfrm>
          <a:prstGeom prst="rect">
            <a:avLst/>
          </a:prstGeom>
        </p:spPr>
      </p:pic>
      <p:sp>
        <p:nvSpPr>
          <p:cNvPr id="6" name="TextBox 5">
            <a:extLst>
              <a:ext uri="{FF2B5EF4-FFF2-40B4-BE49-F238E27FC236}">
                <a16:creationId xmlns:a16="http://schemas.microsoft.com/office/drawing/2014/main" id="{502253F0-D853-7594-6A5D-E0CAFBD53944}"/>
              </a:ext>
            </a:extLst>
          </p:cNvPr>
          <p:cNvSpPr txBox="1"/>
          <p:nvPr/>
        </p:nvSpPr>
        <p:spPr>
          <a:xfrm>
            <a:off x="2606040" y="6033934"/>
            <a:ext cx="2865120" cy="369334"/>
          </a:xfrm>
          <a:prstGeom prst="rect">
            <a:avLst/>
          </a:prstGeom>
          <a:noFill/>
        </p:spPr>
        <p:txBody>
          <a:bodyPr wrap="square">
            <a:spAutoFit/>
          </a:bodyPr>
          <a:lstStyle/>
          <a:p>
            <a:r>
              <a:rPr lang="en-IN" dirty="0">
                <a:solidFill>
                  <a:schemeClr val="bg1"/>
                </a:solidFill>
                <a:latin typeface="Merriweather" panose="00000500000000000000" pitchFamily="2" charset="0"/>
              </a:rPr>
              <a:t> Without Clock Gating</a:t>
            </a:r>
          </a:p>
        </p:txBody>
      </p:sp>
      <p:sp>
        <p:nvSpPr>
          <p:cNvPr id="8" name="TextBox 7">
            <a:extLst>
              <a:ext uri="{FF2B5EF4-FFF2-40B4-BE49-F238E27FC236}">
                <a16:creationId xmlns:a16="http://schemas.microsoft.com/office/drawing/2014/main" id="{E3ECE687-804A-DCCB-48B8-E0DE1680DD7B}"/>
              </a:ext>
            </a:extLst>
          </p:cNvPr>
          <p:cNvSpPr txBox="1"/>
          <p:nvPr/>
        </p:nvSpPr>
        <p:spPr>
          <a:xfrm>
            <a:off x="3657600" y="3930134"/>
            <a:ext cx="7315200" cy="369332"/>
          </a:xfrm>
          <a:prstGeom prst="rect">
            <a:avLst/>
          </a:prstGeom>
          <a:noFill/>
        </p:spPr>
        <p:txBody>
          <a:bodyPr wrap="square">
            <a:spAutoFit/>
          </a:bodyPr>
          <a:lstStyle/>
          <a:p>
            <a:r>
              <a:rPr lang="en-IN" dirty="0">
                <a:solidFill>
                  <a:schemeClr val="bg1"/>
                </a:solidFill>
                <a:latin typeface="Merriweather" panose="00000500000000000000" pitchFamily="2" charset="0"/>
              </a:rPr>
              <a:t> Without Clock Gating</a:t>
            </a:r>
          </a:p>
        </p:txBody>
      </p:sp>
      <p:sp>
        <p:nvSpPr>
          <p:cNvPr id="10" name="TextBox 9">
            <a:extLst>
              <a:ext uri="{FF2B5EF4-FFF2-40B4-BE49-F238E27FC236}">
                <a16:creationId xmlns:a16="http://schemas.microsoft.com/office/drawing/2014/main" id="{6113B8C6-966D-9680-E249-35B304FB1927}"/>
              </a:ext>
            </a:extLst>
          </p:cNvPr>
          <p:cNvSpPr txBox="1"/>
          <p:nvPr/>
        </p:nvSpPr>
        <p:spPr>
          <a:xfrm>
            <a:off x="9906000" y="6060503"/>
            <a:ext cx="2392680" cy="369334"/>
          </a:xfrm>
          <a:prstGeom prst="rect">
            <a:avLst/>
          </a:prstGeom>
          <a:noFill/>
        </p:spPr>
        <p:txBody>
          <a:bodyPr wrap="square">
            <a:spAutoFit/>
          </a:bodyPr>
          <a:lstStyle/>
          <a:p>
            <a:r>
              <a:rPr lang="en-IN" dirty="0">
                <a:solidFill>
                  <a:schemeClr val="bg1"/>
                </a:solidFill>
                <a:latin typeface="Merriweather" panose="00000500000000000000" pitchFamily="2" charset="0"/>
              </a:rPr>
              <a:t> With Clock Gating</a:t>
            </a:r>
          </a:p>
        </p:txBody>
      </p:sp>
    </p:spTree>
    <p:extLst>
      <p:ext uri="{BB962C8B-B14F-4D97-AF65-F5344CB8AC3E}">
        <p14:creationId xmlns:p14="http://schemas.microsoft.com/office/powerpoint/2010/main" val="1844280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BD3890-A2C5-7ECC-9F1F-82D6B3B6C6B4}"/>
              </a:ext>
            </a:extLst>
          </p:cNvPr>
          <p:cNvSpPr txBox="1"/>
          <p:nvPr/>
        </p:nvSpPr>
        <p:spPr>
          <a:xfrm>
            <a:off x="6379464" y="1347116"/>
            <a:ext cx="7315200" cy="588046"/>
          </a:xfrm>
          <a:prstGeom prst="rect">
            <a:avLst/>
          </a:prstGeom>
          <a:noFill/>
        </p:spPr>
        <p:txBody>
          <a:bodyPr wrap="square">
            <a:spAutoFit/>
          </a:bodyPr>
          <a:lstStyle/>
          <a:p>
            <a:pPr algn="just">
              <a:lnSpc>
                <a:spcPct val="150000"/>
              </a:lnSpc>
              <a:spcAft>
                <a:spcPts val="800"/>
              </a:spcAft>
              <a:buNone/>
            </a:pPr>
            <a:r>
              <a:rPr lang="en-GB" sz="2400" b="1" dirty="0">
                <a:solidFill>
                  <a:schemeClr val="bg1"/>
                </a:solidFill>
                <a:effectLst/>
                <a:latin typeface="Merriweather" panose="00000500000000000000" pitchFamily="2" charset="0"/>
                <a:ea typeface="Calibri" panose="020F0502020204030204" pitchFamily="34" charset="0"/>
                <a:cs typeface="Times New Roman" panose="02020603050405020304" pitchFamily="18" charset="0"/>
              </a:rPr>
              <a:t>Area Utilization</a:t>
            </a:r>
            <a:endParaRPr lang="en-IN" sz="2400" dirty="0">
              <a:solidFill>
                <a:schemeClr val="bg1"/>
              </a:solidFill>
              <a:effectLst/>
              <a:latin typeface="Merriweather" panose="00000500000000000000" pitchFamily="2" charset="0"/>
              <a:ea typeface="Calibri" panose="020F0502020204030204" pitchFamily="34" charset="0"/>
              <a:cs typeface="Times New Roman" panose="02020603050405020304" pitchFamily="18" charset="0"/>
            </a:endParaRPr>
          </a:p>
        </p:txBody>
      </p:sp>
      <p:pic>
        <p:nvPicPr>
          <p:cNvPr id="2" name="Picture 1" descr="Y:\Kothakota Prakash\2025_2026\OCTOBER\TK196665_A New Input Grouping and Sharing Method to Design Low Complexity FFT Implementation\area.png">
            <a:extLst>
              <a:ext uri="{FF2B5EF4-FFF2-40B4-BE49-F238E27FC236}">
                <a16:creationId xmlns:a16="http://schemas.microsoft.com/office/drawing/2014/main" id="{6224BFE1-9606-70E6-5B46-1D3903310AE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26721" y="2932712"/>
            <a:ext cx="7193279" cy="2773681"/>
          </a:xfrm>
          <a:prstGeom prst="rect">
            <a:avLst/>
          </a:prstGeom>
          <a:noFill/>
          <a:ln>
            <a:noFill/>
          </a:ln>
        </p:spPr>
      </p:pic>
      <p:pic>
        <p:nvPicPr>
          <p:cNvPr id="4" name="Picture 3">
            <a:extLst>
              <a:ext uri="{FF2B5EF4-FFF2-40B4-BE49-F238E27FC236}">
                <a16:creationId xmlns:a16="http://schemas.microsoft.com/office/drawing/2014/main" id="{C58E4D23-285E-F5D0-9F7F-E9A22D255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2920" y="2932712"/>
            <a:ext cx="6080759" cy="2773681"/>
          </a:xfrm>
          <a:prstGeom prst="rect">
            <a:avLst/>
          </a:prstGeom>
        </p:spPr>
      </p:pic>
      <p:sp>
        <p:nvSpPr>
          <p:cNvPr id="6" name="TextBox 5">
            <a:extLst>
              <a:ext uri="{FF2B5EF4-FFF2-40B4-BE49-F238E27FC236}">
                <a16:creationId xmlns:a16="http://schemas.microsoft.com/office/drawing/2014/main" id="{905FEC0D-46D8-55EC-93C9-DE72643C839D}"/>
              </a:ext>
            </a:extLst>
          </p:cNvPr>
          <p:cNvSpPr txBox="1"/>
          <p:nvPr/>
        </p:nvSpPr>
        <p:spPr>
          <a:xfrm>
            <a:off x="2606040" y="5987534"/>
            <a:ext cx="7315200" cy="369332"/>
          </a:xfrm>
          <a:prstGeom prst="rect">
            <a:avLst/>
          </a:prstGeom>
          <a:noFill/>
        </p:spPr>
        <p:txBody>
          <a:bodyPr wrap="square">
            <a:spAutoFit/>
          </a:bodyPr>
          <a:lstStyle/>
          <a:p>
            <a:pPr marL="0" algn="l" rtl="0" eaLnBrk="1" latinLnBrk="0" hangingPunct="1">
              <a:buNone/>
            </a:pPr>
            <a:r>
              <a:rPr lang="en-IN" sz="1800" kern="1200" dirty="0">
                <a:solidFill>
                  <a:srgbClr val="FFFFFF"/>
                </a:solidFill>
                <a:effectLst/>
                <a:latin typeface="Merriweather" panose="00000500000000000000" pitchFamily="2" charset="0"/>
                <a:ea typeface="+mn-ea"/>
                <a:cs typeface="+mn-cs"/>
              </a:rPr>
              <a:t> Without Clock Gating</a:t>
            </a:r>
            <a:endParaRPr lang="en-IN" dirty="0">
              <a:effectLst/>
            </a:endParaRPr>
          </a:p>
        </p:txBody>
      </p:sp>
      <p:sp>
        <p:nvSpPr>
          <p:cNvPr id="8" name="TextBox 7">
            <a:extLst>
              <a:ext uri="{FF2B5EF4-FFF2-40B4-BE49-F238E27FC236}">
                <a16:creationId xmlns:a16="http://schemas.microsoft.com/office/drawing/2014/main" id="{986F3EB6-87CA-623D-1E32-F56AAD77308C}"/>
              </a:ext>
            </a:extLst>
          </p:cNvPr>
          <p:cNvSpPr txBox="1"/>
          <p:nvPr/>
        </p:nvSpPr>
        <p:spPr>
          <a:xfrm>
            <a:off x="9921240" y="5987534"/>
            <a:ext cx="7315200" cy="369332"/>
          </a:xfrm>
          <a:prstGeom prst="rect">
            <a:avLst/>
          </a:prstGeom>
          <a:noFill/>
        </p:spPr>
        <p:txBody>
          <a:bodyPr wrap="square">
            <a:spAutoFit/>
          </a:bodyPr>
          <a:lstStyle/>
          <a:p>
            <a:pPr marL="0" algn="l" rtl="0" eaLnBrk="1" latinLnBrk="0" hangingPunct="1">
              <a:buNone/>
            </a:pPr>
            <a:r>
              <a:rPr lang="en-IN" sz="1800" kern="1200" dirty="0">
                <a:solidFill>
                  <a:srgbClr val="FFFFFF"/>
                </a:solidFill>
                <a:effectLst/>
                <a:latin typeface="Merriweather" panose="00000500000000000000" pitchFamily="2" charset="0"/>
                <a:ea typeface="+mn-ea"/>
                <a:cs typeface="+mn-cs"/>
              </a:rPr>
              <a:t> With Clock Gating</a:t>
            </a:r>
            <a:endParaRPr lang="en-IN" dirty="0">
              <a:effectLst/>
            </a:endParaRPr>
          </a:p>
        </p:txBody>
      </p:sp>
    </p:spTree>
    <p:extLst>
      <p:ext uri="{BB962C8B-B14F-4D97-AF65-F5344CB8AC3E}">
        <p14:creationId xmlns:p14="http://schemas.microsoft.com/office/powerpoint/2010/main" val="1056532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F3093D-E266-C901-832C-55C85511D039}"/>
              </a:ext>
            </a:extLst>
          </p:cNvPr>
          <p:cNvSpPr txBox="1"/>
          <p:nvPr/>
        </p:nvSpPr>
        <p:spPr>
          <a:xfrm>
            <a:off x="5818632" y="1004054"/>
            <a:ext cx="3584448" cy="461665"/>
          </a:xfrm>
          <a:prstGeom prst="rect">
            <a:avLst/>
          </a:prstGeom>
          <a:noFill/>
        </p:spPr>
        <p:txBody>
          <a:bodyPr wrap="square">
            <a:spAutoFit/>
          </a:bodyPr>
          <a:lstStyle/>
          <a:p>
            <a:r>
              <a:rPr lang="en-GB" sz="2400" b="1" kern="0">
                <a:solidFill>
                  <a:schemeClr val="bg1"/>
                </a:solidFill>
                <a:effectLst/>
                <a:latin typeface="Merriweather" panose="00000500000000000000" pitchFamily="2" charset="0"/>
                <a:ea typeface="Calibri" panose="020F0502020204030204" pitchFamily="34" charset="0"/>
              </a:rPr>
              <a:t>Power Consumption</a:t>
            </a:r>
            <a:endParaRPr lang="en-IN" sz="2400" dirty="0">
              <a:solidFill>
                <a:schemeClr val="bg1"/>
              </a:solidFill>
              <a:latin typeface="Merriweather" panose="00000500000000000000" pitchFamily="2" charset="0"/>
            </a:endParaRPr>
          </a:p>
        </p:txBody>
      </p:sp>
      <p:pic>
        <p:nvPicPr>
          <p:cNvPr id="2" name="Picture 1">
            <a:extLst>
              <a:ext uri="{FF2B5EF4-FFF2-40B4-BE49-F238E27FC236}">
                <a16:creationId xmlns:a16="http://schemas.microsoft.com/office/drawing/2014/main" id="{2F34435F-807A-A871-BC0A-F487FD94CD0D}"/>
              </a:ext>
            </a:extLst>
          </p:cNvPr>
          <p:cNvPicPr>
            <a:picLocks noChangeAspect="1"/>
          </p:cNvPicPr>
          <p:nvPr/>
        </p:nvPicPr>
        <p:blipFill rotWithShape="1">
          <a:blip r:embed="rId2">
            <a:extLst>
              <a:ext uri="{28A0092B-C50C-407E-A947-70E740481C1C}">
                <a14:useLocalDpi xmlns:a14="http://schemas.microsoft.com/office/drawing/2010/main" val="0"/>
              </a:ext>
            </a:extLst>
          </a:blip>
          <a:srcRect t="2710"/>
          <a:stretch/>
        </p:blipFill>
        <p:spPr bwMode="auto">
          <a:xfrm>
            <a:off x="532567" y="2369246"/>
            <a:ext cx="6569273" cy="3491108"/>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2D28387A-9343-83BC-3C14-B423FBEC0F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7989" y="2369246"/>
            <a:ext cx="6436923" cy="3491108"/>
          </a:xfrm>
          <a:prstGeom prst="rect">
            <a:avLst/>
          </a:prstGeom>
        </p:spPr>
      </p:pic>
      <p:sp>
        <p:nvSpPr>
          <p:cNvPr id="7" name="TextBox 6">
            <a:extLst>
              <a:ext uri="{FF2B5EF4-FFF2-40B4-BE49-F238E27FC236}">
                <a16:creationId xmlns:a16="http://schemas.microsoft.com/office/drawing/2014/main" id="{9B359DC5-30D5-32BB-3866-AFFAA72992E5}"/>
              </a:ext>
            </a:extLst>
          </p:cNvPr>
          <p:cNvSpPr txBox="1"/>
          <p:nvPr/>
        </p:nvSpPr>
        <p:spPr>
          <a:xfrm>
            <a:off x="2346960" y="6094214"/>
            <a:ext cx="3017520" cy="369332"/>
          </a:xfrm>
          <a:prstGeom prst="rect">
            <a:avLst/>
          </a:prstGeom>
          <a:noFill/>
        </p:spPr>
        <p:txBody>
          <a:bodyPr wrap="square">
            <a:spAutoFit/>
          </a:bodyPr>
          <a:lstStyle/>
          <a:p>
            <a:pPr marL="0" algn="l" rtl="0" eaLnBrk="1" latinLnBrk="0" hangingPunct="1">
              <a:buNone/>
            </a:pPr>
            <a:r>
              <a:rPr lang="en-IN" sz="1800" kern="1200" dirty="0">
                <a:solidFill>
                  <a:srgbClr val="FFFFFF"/>
                </a:solidFill>
                <a:effectLst/>
                <a:latin typeface="Merriweather" panose="00000500000000000000" pitchFamily="2" charset="0"/>
                <a:ea typeface="+mn-ea"/>
                <a:cs typeface="+mn-cs"/>
              </a:rPr>
              <a:t> Without Clock Gating</a:t>
            </a:r>
            <a:endParaRPr lang="en-IN" dirty="0">
              <a:effectLst/>
            </a:endParaRPr>
          </a:p>
        </p:txBody>
      </p:sp>
      <p:sp>
        <p:nvSpPr>
          <p:cNvPr id="9" name="TextBox 8">
            <a:extLst>
              <a:ext uri="{FF2B5EF4-FFF2-40B4-BE49-F238E27FC236}">
                <a16:creationId xmlns:a16="http://schemas.microsoft.com/office/drawing/2014/main" id="{DE980A54-8DCA-4402-C72A-6ADA53E30AF8}"/>
              </a:ext>
            </a:extLst>
          </p:cNvPr>
          <p:cNvSpPr txBox="1"/>
          <p:nvPr/>
        </p:nvSpPr>
        <p:spPr>
          <a:xfrm>
            <a:off x="9784080" y="6094214"/>
            <a:ext cx="2362200" cy="369332"/>
          </a:xfrm>
          <a:prstGeom prst="rect">
            <a:avLst/>
          </a:prstGeom>
          <a:noFill/>
        </p:spPr>
        <p:txBody>
          <a:bodyPr wrap="square">
            <a:spAutoFit/>
          </a:bodyPr>
          <a:lstStyle/>
          <a:p>
            <a:pPr marL="0" algn="l" rtl="0" eaLnBrk="1" latinLnBrk="0" hangingPunct="1">
              <a:buNone/>
            </a:pPr>
            <a:r>
              <a:rPr lang="en-IN" sz="1800" kern="1200" dirty="0">
                <a:solidFill>
                  <a:srgbClr val="FFFFFF"/>
                </a:solidFill>
                <a:effectLst/>
                <a:latin typeface="Merriweather" panose="00000500000000000000" pitchFamily="2" charset="0"/>
                <a:ea typeface="+mn-ea"/>
                <a:cs typeface="+mn-cs"/>
              </a:rPr>
              <a:t> With Clock Gating</a:t>
            </a:r>
            <a:endParaRPr lang="en-IN" dirty="0">
              <a:effectLst/>
            </a:endParaRPr>
          </a:p>
        </p:txBody>
      </p:sp>
    </p:spTree>
    <p:extLst>
      <p:ext uri="{BB962C8B-B14F-4D97-AF65-F5344CB8AC3E}">
        <p14:creationId xmlns:p14="http://schemas.microsoft.com/office/powerpoint/2010/main" val="384094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042F660-50FD-0314-2572-F7F48CAE6D8F}"/>
              </a:ext>
            </a:extLst>
          </p:cNvPr>
          <p:cNvGraphicFramePr>
            <a:graphicFrameLocks noGrp="1"/>
          </p:cNvGraphicFramePr>
          <p:nvPr>
            <p:extLst>
              <p:ext uri="{D42A27DB-BD31-4B8C-83A1-F6EECF244321}">
                <p14:modId xmlns:p14="http://schemas.microsoft.com/office/powerpoint/2010/main" val="3205980048"/>
              </p:ext>
            </p:extLst>
          </p:nvPr>
        </p:nvGraphicFramePr>
        <p:xfrm>
          <a:off x="3248660" y="2290921"/>
          <a:ext cx="7876540" cy="2772050"/>
        </p:xfrm>
        <a:graphic>
          <a:graphicData uri="http://schemas.openxmlformats.org/drawingml/2006/table">
            <a:tbl>
              <a:tblPr firstRow="1" firstCol="1" bandRow="1">
                <a:tableStyleId>{5C22544A-7EE6-4342-B048-85BDC9FD1C3A}</a:tableStyleId>
              </a:tblPr>
              <a:tblGrid>
                <a:gridCol w="1337509">
                  <a:extLst>
                    <a:ext uri="{9D8B030D-6E8A-4147-A177-3AD203B41FA5}">
                      <a16:colId xmlns:a16="http://schemas.microsoft.com/office/drawing/2014/main" val="2948346568"/>
                    </a:ext>
                  </a:extLst>
                </a:gridCol>
                <a:gridCol w="1775192">
                  <a:extLst>
                    <a:ext uri="{9D8B030D-6E8A-4147-A177-3AD203B41FA5}">
                      <a16:colId xmlns:a16="http://schemas.microsoft.com/office/drawing/2014/main" val="3364003404"/>
                    </a:ext>
                  </a:extLst>
                </a:gridCol>
                <a:gridCol w="1548051">
                  <a:extLst>
                    <a:ext uri="{9D8B030D-6E8A-4147-A177-3AD203B41FA5}">
                      <a16:colId xmlns:a16="http://schemas.microsoft.com/office/drawing/2014/main" val="374440000"/>
                    </a:ext>
                  </a:extLst>
                </a:gridCol>
                <a:gridCol w="1617941">
                  <a:extLst>
                    <a:ext uri="{9D8B030D-6E8A-4147-A177-3AD203B41FA5}">
                      <a16:colId xmlns:a16="http://schemas.microsoft.com/office/drawing/2014/main" val="1586591817"/>
                    </a:ext>
                  </a:extLst>
                </a:gridCol>
                <a:gridCol w="1597847">
                  <a:extLst>
                    <a:ext uri="{9D8B030D-6E8A-4147-A177-3AD203B41FA5}">
                      <a16:colId xmlns:a16="http://schemas.microsoft.com/office/drawing/2014/main" val="2430908057"/>
                    </a:ext>
                  </a:extLst>
                </a:gridCol>
              </a:tblGrid>
              <a:tr h="638434">
                <a:tc>
                  <a:txBody>
                    <a:bodyPr/>
                    <a:lstStyle/>
                    <a:p>
                      <a:pPr algn="ctr">
                        <a:buNone/>
                      </a:pPr>
                      <a:r>
                        <a:rPr lang="en-US" sz="2500" kern="100">
                          <a:effectLst/>
                        </a:rPr>
                        <a:t>SI.NO</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METHOD</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AREA (LUT)</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POWER(w)</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DELAY(ns)</a:t>
                      </a:r>
                      <a:endParaRPr lang="en-IN" sz="25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40714490"/>
                  </a:ext>
                </a:extLst>
              </a:tr>
              <a:tr h="638434">
                <a:tc>
                  <a:txBody>
                    <a:bodyPr/>
                    <a:lstStyle/>
                    <a:p>
                      <a:pPr algn="ctr">
                        <a:buNone/>
                      </a:pPr>
                      <a:r>
                        <a:rPr lang="en-US" sz="2500" kern="100">
                          <a:effectLst/>
                        </a:rPr>
                        <a:t>1</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WITHOUT CLOCK</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dirty="0">
                          <a:effectLst/>
                        </a:rPr>
                        <a:t>3290</a:t>
                      </a:r>
                      <a:endParaRPr lang="en-IN" sz="25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1000.115</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dirty="0">
                          <a:effectLst/>
                        </a:rPr>
                        <a:t>10.561</a:t>
                      </a:r>
                      <a:endParaRPr lang="en-IN" sz="25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8309062"/>
                  </a:ext>
                </a:extLst>
              </a:tr>
              <a:tr h="1248050">
                <a:tc>
                  <a:txBody>
                    <a:bodyPr/>
                    <a:lstStyle/>
                    <a:p>
                      <a:pPr algn="ctr">
                        <a:buNone/>
                      </a:pPr>
                      <a:r>
                        <a:rPr lang="en-US" sz="2500" kern="100">
                          <a:effectLst/>
                        </a:rPr>
                        <a:t>2</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a:effectLst/>
                        </a:rPr>
                        <a:t>WITH CLOCK</a:t>
                      </a:r>
                      <a:endParaRPr lang="en-IN" sz="25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dirty="0">
                          <a:effectLst/>
                        </a:rPr>
                        <a:t>3307</a:t>
                      </a:r>
                      <a:endParaRPr lang="en-IN" sz="25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dirty="0">
                          <a:effectLst/>
                        </a:rPr>
                        <a:t>62.447</a:t>
                      </a:r>
                      <a:endParaRPr lang="en-IN" sz="25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2500" kern="100" dirty="0">
                          <a:effectLst/>
                        </a:rPr>
                        <a:t>7.406</a:t>
                      </a:r>
                      <a:endParaRPr lang="en-IN" sz="25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90789193"/>
                  </a:ext>
                </a:extLst>
              </a:tr>
            </a:tbl>
          </a:graphicData>
        </a:graphic>
      </p:graphicFrame>
      <p:sp>
        <p:nvSpPr>
          <p:cNvPr id="3" name="Rectangle 1">
            <a:extLst>
              <a:ext uri="{FF2B5EF4-FFF2-40B4-BE49-F238E27FC236}">
                <a16:creationId xmlns:a16="http://schemas.microsoft.com/office/drawing/2014/main" id="{26FE3D79-BC8C-31A2-9E04-E78B8A14F460}"/>
              </a:ext>
            </a:extLst>
          </p:cNvPr>
          <p:cNvSpPr>
            <a:spLocks noChangeArrowheads="1"/>
          </p:cNvSpPr>
          <p:nvPr/>
        </p:nvSpPr>
        <p:spPr bwMode="auto">
          <a:xfrm>
            <a:off x="2651761" y="1237216"/>
            <a:ext cx="208930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Merriweather" panose="00000500000000000000" pitchFamily="2" charset="0"/>
                <a:ea typeface="Times New Roman" panose="02020603050405020304" pitchFamily="18" charset="0"/>
              </a:rPr>
              <a:t>Comparative Analysis of 32-Point FFT With and without Clock Gating</a:t>
            </a:r>
            <a:r>
              <a:rPr kumimoji="0" lang="en-US" altLang="en-US" sz="2000" b="1" i="0" u="none" strike="noStrike" cap="none" normalizeH="0" baseline="0" dirty="0">
                <a:ln>
                  <a:noFill/>
                </a:ln>
                <a:solidFill>
                  <a:schemeClr val="tx1"/>
                </a:solidFill>
                <a:effectLst/>
                <a:latin typeface="Merriweather" panose="00000500000000000000" pitchFamily="2" charset="0"/>
                <a:ea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Merriweather" panose="00000500000000000000" pitchFamily="2" charset="0"/>
            </a:endParaRPr>
          </a:p>
        </p:txBody>
      </p:sp>
    </p:spTree>
    <p:extLst>
      <p:ext uri="{BB962C8B-B14F-4D97-AF65-F5344CB8AC3E}">
        <p14:creationId xmlns:p14="http://schemas.microsoft.com/office/powerpoint/2010/main" val="3775902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E72EC4-6D78-FD27-9F62-0FD6A19CE6B5}"/>
              </a:ext>
            </a:extLst>
          </p:cNvPr>
          <p:cNvSpPr txBox="1"/>
          <p:nvPr/>
        </p:nvSpPr>
        <p:spPr>
          <a:xfrm>
            <a:off x="633389" y="509916"/>
            <a:ext cx="13363621" cy="7465505"/>
          </a:xfrm>
          <a:prstGeom prst="rect">
            <a:avLst/>
          </a:prstGeom>
          <a:noFill/>
        </p:spPr>
        <p:txBody>
          <a:bodyPr wrap="square">
            <a:spAutoFit/>
          </a:bodyPr>
          <a:lstStyle/>
          <a:p>
            <a:pPr marL="0" algn="l" rtl="0" eaLnBrk="1" latinLnBrk="0" hangingPunct="1">
              <a:lnSpc>
                <a:spcPct val="200000"/>
              </a:lnSpc>
              <a:buNone/>
            </a:pPr>
            <a:r>
              <a:rPr lang="en-US" sz="2000" b="1" kern="1200" dirty="0">
                <a:solidFill>
                  <a:srgbClr val="FFFFFF"/>
                </a:solidFill>
                <a:effectLst/>
                <a:latin typeface="Merriweather" panose="00000500000000000000" pitchFamily="2" charset="0"/>
                <a:ea typeface="+mn-ea"/>
                <a:cs typeface="+mn-cs"/>
              </a:rPr>
              <a:t>Results Summary</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The </a:t>
            </a:r>
            <a:r>
              <a:rPr lang="en-US" altLang="en-US" sz="1900" b="1" dirty="0">
                <a:solidFill>
                  <a:schemeClr val="bg1"/>
                </a:solidFill>
                <a:latin typeface="Merriweather" panose="00000500000000000000" pitchFamily="2" charset="0"/>
              </a:rPr>
              <a:t>base paper 16-point FFT architecture</a:t>
            </a:r>
            <a:r>
              <a:rPr lang="en-US" altLang="en-US" sz="1900" dirty="0">
                <a:solidFill>
                  <a:schemeClr val="bg1"/>
                </a:solidFill>
                <a:latin typeface="Merriweather" panose="00000500000000000000" pitchFamily="2" charset="0"/>
              </a:rPr>
              <a:t> was successfully designed and functionally verified.</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Using the validated 16-point FFT as a building block, the </a:t>
            </a:r>
            <a:r>
              <a:rPr lang="en-US" sz="2000" b="1" dirty="0">
                <a:solidFill>
                  <a:schemeClr val="bg1"/>
                </a:solidFill>
                <a:latin typeface="Merriweather" panose="00000500000000000000" pitchFamily="2" charset="0"/>
              </a:rPr>
              <a:t>32-point FFT architecture was successfully designed and implemented</a:t>
            </a:r>
            <a:r>
              <a:rPr lang="en-US" sz="2000" dirty="0">
                <a:solidFill>
                  <a:schemeClr val="bg1"/>
                </a:solidFill>
                <a:latin typeface="Merriweather" panose="00000500000000000000" pitchFamily="2" charset="0"/>
              </a:rPr>
              <a:t>.</a:t>
            </a:r>
            <a:endParaRPr lang="en-US" altLang="en-US" sz="1900" dirty="0">
              <a:solidFill>
                <a:schemeClr val="bg1"/>
              </a:solidFill>
              <a:latin typeface="Merriweather" panose="00000500000000000000" pitchFamily="2" charset="0"/>
            </a:endParaRP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The proposed FFT architecture was </a:t>
            </a:r>
            <a:r>
              <a:rPr lang="en-US" altLang="en-US" sz="1900" b="1" dirty="0">
                <a:solidFill>
                  <a:schemeClr val="bg1"/>
                </a:solidFill>
                <a:latin typeface="Merriweather" panose="00000500000000000000" pitchFamily="2" charset="0"/>
              </a:rPr>
              <a:t>designed and simulated using Xilinx Vivado</a:t>
            </a:r>
            <a:r>
              <a:rPr lang="en-US" altLang="en-US" sz="1900" dirty="0">
                <a:solidFill>
                  <a:schemeClr val="bg1"/>
                </a:solidFill>
                <a:latin typeface="Merriweather" panose="00000500000000000000" pitchFamily="2" charset="0"/>
              </a:rPr>
              <a:t>.</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The target hardware platform for implementation is the </a:t>
            </a:r>
            <a:r>
              <a:rPr lang="en-US" altLang="en-US" sz="1900" b="1" dirty="0">
                <a:solidFill>
                  <a:schemeClr val="bg1"/>
                </a:solidFill>
                <a:latin typeface="Merriweather" panose="00000500000000000000" pitchFamily="2" charset="0"/>
              </a:rPr>
              <a:t>Artix-7 FPGA board</a:t>
            </a:r>
            <a:r>
              <a:rPr lang="en-US" altLang="en-US" sz="1900" dirty="0">
                <a:solidFill>
                  <a:schemeClr val="bg1"/>
                </a:solidFill>
                <a:latin typeface="Merriweather" panose="00000500000000000000" pitchFamily="2" charset="0"/>
              </a:rPr>
              <a:t>.</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b="1" dirty="0">
                <a:solidFill>
                  <a:schemeClr val="bg1"/>
                </a:solidFill>
                <a:latin typeface="Merriweather" panose="00000500000000000000" pitchFamily="2" charset="0"/>
              </a:rPr>
              <a:t>Functional verification</a:t>
            </a:r>
            <a:r>
              <a:rPr lang="en-US" altLang="en-US" sz="1900" dirty="0">
                <a:solidFill>
                  <a:schemeClr val="bg1"/>
                </a:solidFill>
                <a:latin typeface="Merriweather" panose="00000500000000000000" pitchFamily="2" charset="0"/>
              </a:rPr>
              <a:t> was completed successfully through simulation.</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Performance evaluation was carried out in terms of </a:t>
            </a:r>
            <a:r>
              <a:rPr lang="en-US" altLang="en-US" sz="1900" b="1" dirty="0">
                <a:solidFill>
                  <a:schemeClr val="bg1"/>
                </a:solidFill>
                <a:latin typeface="Merriweather" panose="00000500000000000000" pitchFamily="2" charset="0"/>
              </a:rPr>
              <a:t>area, power, and time delay</a:t>
            </a:r>
            <a:r>
              <a:rPr lang="en-US" altLang="en-US" sz="1900" dirty="0">
                <a:solidFill>
                  <a:schemeClr val="bg1"/>
                </a:solidFill>
                <a:latin typeface="Merriweather" panose="00000500000000000000" pitchFamily="2" charset="0"/>
              </a:rPr>
              <a:t>.</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The obtained results show a </a:t>
            </a:r>
            <a:r>
              <a:rPr lang="en-US" altLang="en-US" sz="1900" b="1" dirty="0">
                <a:solidFill>
                  <a:schemeClr val="bg1"/>
                </a:solidFill>
                <a:latin typeface="Merriweather" panose="00000500000000000000" pitchFamily="2" charset="0"/>
              </a:rPr>
              <a:t>reduction in area, power, and delay</a:t>
            </a:r>
            <a:r>
              <a:rPr lang="en-US" altLang="en-US" sz="1900" dirty="0">
                <a:solidFill>
                  <a:schemeClr val="bg1"/>
                </a:solidFill>
                <a:latin typeface="Merriweather" panose="00000500000000000000" pitchFamily="2" charset="0"/>
              </a:rPr>
              <a:t> compared to the conventional FFT architecture.</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1900" dirty="0">
                <a:solidFill>
                  <a:schemeClr val="bg1"/>
                </a:solidFill>
                <a:latin typeface="Merriweather" panose="00000500000000000000" pitchFamily="2" charset="0"/>
              </a:rPr>
              <a:t>The obtained results show a reduction in area and time delay. however, power consumption increased compared to the conventional FFT architecture due to parallel processing of two 16-point FFT blocks.</a:t>
            </a:r>
          </a:p>
          <a:p>
            <a:pPr marL="342900" indent="-342900" algn="just" eaLnBrk="0" fontAlgn="base" hangingPunct="0">
              <a:lnSpc>
                <a:spcPct val="150000"/>
              </a:lnSpc>
              <a:spcBef>
                <a:spcPct val="0"/>
              </a:spcBef>
              <a:spcAft>
                <a:spcPct val="0"/>
              </a:spcAft>
              <a:buFont typeface="Wingdings" panose="05000000000000000000" pitchFamily="2" charset="2"/>
              <a:buChar char="Ø"/>
            </a:pPr>
            <a:r>
              <a:rPr lang="en-US" sz="2000" dirty="0">
                <a:solidFill>
                  <a:schemeClr val="bg1"/>
                </a:solidFill>
                <a:latin typeface="Merriweather" panose="00000500000000000000" pitchFamily="2" charset="0"/>
              </a:rPr>
              <a:t>To address this issue, A clock gating technique was implemented to reduce unnecessary switching activity, resulting in lower power consumption and delay. However, a slight increase in area occurred due to additional flip-flops and control logic.</a:t>
            </a:r>
            <a:endParaRPr lang="en-US" altLang="en-US" sz="1900" dirty="0">
              <a:solidFill>
                <a:schemeClr val="bg1"/>
              </a:solidFill>
              <a:latin typeface="Merriweather" panose="00000500000000000000" pitchFamily="2" charset="0"/>
            </a:endParaRPr>
          </a:p>
          <a:p>
            <a:pPr marL="740664" indent="-283464" algn="l" rtl="0" eaLnBrk="1" latinLnBrk="0" hangingPunct="1">
              <a:lnSpc>
                <a:spcPct val="200000"/>
              </a:lnSpc>
              <a:buNone/>
            </a:pPr>
            <a:endParaRPr lang="en-IN" sz="1900" dirty="0">
              <a:effectLst/>
              <a:latin typeface="Merriweather" panose="00000500000000000000" pitchFamily="2" charset="0"/>
            </a:endParaRPr>
          </a:p>
        </p:txBody>
      </p:sp>
    </p:spTree>
    <p:extLst>
      <p:ext uri="{BB962C8B-B14F-4D97-AF65-F5344CB8AC3E}">
        <p14:creationId xmlns:p14="http://schemas.microsoft.com/office/powerpoint/2010/main" val="2516103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15380F-C7C8-8DA6-EDED-E61EA399EFE0}"/>
              </a:ext>
            </a:extLst>
          </p:cNvPr>
          <p:cNvSpPr txBox="1"/>
          <p:nvPr/>
        </p:nvSpPr>
        <p:spPr>
          <a:xfrm>
            <a:off x="3055435" y="-222287"/>
            <a:ext cx="9300116" cy="1373966"/>
          </a:xfrm>
          <a:prstGeom prst="rect">
            <a:avLst/>
          </a:prstGeom>
          <a:noFill/>
        </p:spPr>
        <p:txBody>
          <a:bodyPr wrap="square">
            <a:spAutoFit/>
          </a:bodyPr>
          <a:lstStyle/>
          <a:p>
            <a:pPr>
              <a:lnSpc>
                <a:spcPct val="200000"/>
              </a:lnSpc>
            </a:pPr>
            <a:r>
              <a:rPr lang="en-US" sz="4850" dirty="0">
                <a:solidFill>
                  <a:srgbClr val="E2E6E9"/>
                </a:solidFill>
                <a:latin typeface="Merriweather" pitchFamily="34" charset="0"/>
              </a:rPr>
              <a:t>Applications &amp; Advantages</a:t>
            </a:r>
          </a:p>
        </p:txBody>
      </p:sp>
      <p:sp>
        <p:nvSpPr>
          <p:cNvPr id="6" name="TextBox 5">
            <a:extLst>
              <a:ext uri="{FF2B5EF4-FFF2-40B4-BE49-F238E27FC236}">
                <a16:creationId xmlns:a16="http://schemas.microsoft.com/office/drawing/2014/main" id="{74BCE8D2-186F-B067-3E0E-930D584994B9}"/>
              </a:ext>
            </a:extLst>
          </p:cNvPr>
          <p:cNvSpPr txBox="1"/>
          <p:nvPr/>
        </p:nvSpPr>
        <p:spPr>
          <a:xfrm>
            <a:off x="947399" y="2342439"/>
            <a:ext cx="6758094" cy="4124206"/>
          </a:xfrm>
          <a:prstGeom prst="rect">
            <a:avLst/>
          </a:prstGeom>
          <a:noFill/>
        </p:spPr>
        <p:txBody>
          <a:bodyPr wrap="square" rtlCol="0">
            <a:spAutoFit/>
          </a:bodyPr>
          <a:lstStyle/>
          <a:p>
            <a:r>
              <a:rPr lang="en-IN" sz="2400" dirty="0">
                <a:solidFill>
                  <a:schemeClr val="bg1"/>
                </a:solidFill>
                <a:latin typeface="Merriweather" panose="00000500000000000000" pitchFamily="2" charset="0"/>
              </a:rPr>
              <a:t>Applications</a:t>
            </a:r>
          </a:p>
          <a:p>
            <a:endParaRPr lang="en-IN" sz="2000" dirty="0">
              <a:solidFill>
                <a:schemeClr val="bg1"/>
              </a:solidFill>
              <a:latin typeface="Merriweather" panose="00000500000000000000" pitchFamily="2" charset="0"/>
            </a:endParaRPr>
          </a:p>
          <a:p>
            <a:pPr marL="34290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Mobile Communications (4G/5G Networks)</a:t>
            </a:r>
          </a:p>
          <a:p>
            <a:pPr marL="34290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Wireless Local Area Networks (WLANs)</a:t>
            </a:r>
            <a:endParaRPr lang="en-IN" sz="2000" dirty="0">
              <a:solidFill>
                <a:schemeClr val="bg1"/>
              </a:solidFill>
              <a:latin typeface="Merriweather" panose="00000500000000000000" pitchFamily="2" charset="0"/>
            </a:endParaRPr>
          </a:p>
          <a:p>
            <a:pPr marL="342900" indent="-342900">
              <a:lnSpc>
                <a:spcPct val="150000"/>
              </a:lnSpc>
              <a:buFont typeface="Wingdings" panose="05000000000000000000" pitchFamily="2" charset="2"/>
              <a:buChar char="Ø"/>
            </a:pPr>
            <a:r>
              <a:rPr lang="en-US" sz="2000" dirty="0">
                <a:solidFill>
                  <a:schemeClr val="bg1"/>
                </a:solidFill>
                <a:latin typeface="Merriweather" panose="00000500000000000000" pitchFamily="2" charset="0"/>
              </a:rPr>
              <a:t>Signal Processing in IoT Devices</a:t>
            </a:r>
            <a:endParaRPr lang="en-IN" sz="2000" dirty="0">
              <a:solidFill>
                <a:schemeClr val="bg1"/>
              </a:solidFill>
              <a:latin typeface="Merriweather" panose="00000500000000000000" pitchFamily="2" charset="0"/>
            </a:endParaRPr>
          </a:p>
          <a:p>
            <a:pPr marL="34290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Image and Video Processing</a:t>
            </a:r>
            <a:endParaRPr lang="en-US" sz="2000" dirty="0">
              <a:solidFill>
                <a:schemeClr val="bg1"/>
              </a:solidFill>
              <a:latin typeface="Merriweather" panose="00000500000000000000" pitchFamily="2" charset="0"/>
            </a:endParaRPr>
          </a:p>
          <a:p>
            <a:pPr marL="34290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Medical Imaging</a:t>
            </a:r>
            <a:endParaRPr lang="en-IN" sz="2000" b="1" dirty="0">
              <a:solidFill>
                <a:schemeClr val="bg1"/>
              </a:solidFill>
              <a:latin typeface="Merriweather" panose="00000500000000000000" pitchFamily="2" charset="0"/>
            </a:endParaRPr>
          </a:p>
          <a:p>
            <a:pPr marL="34290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Audio Processing</a:t>
            </a:r>
            <a:endParaRPr lang="en-IN" sz="2000" b="1" dirty="0">
              <a:solidFill>
                <a:schemeClr val="bg1"/>
              </a:solidFill>
              <a:latin typeface="Merriweather" panose="00000500000000000000" pitchFamily="2" charset="0"/>
            </a:endParaRPr>
          </a:p>
          <a:p>
            <a:pPr marL="342900" indent="-342900">
              <a:buFont typeface="Wingdings" panose="05000000000000000000" pitchFamily="2" charset="2"/>
              <a:buChar char="Ø"/>
            </a:pPr>
            <a:endParaRPr lang="en-IN" b="1" dirty="0"/>
          </a:p>
          <a:p>
            <a:pPr marL="342900" indent="-342900">
              <a:buFont typeface="Wingdings" panose="05000000000000000000" pitchFamily="2" charset="2"/>
              <a:buChar char="Ø"/>
            </a:pPr>
            <a:endParaRPr lang="en-IN" sz="2000" dirty="0">
              <a:solidFill>
                <a:schemeClr val="bg1"/>
              </a:solidFill>
              <a:latin typeface="Merriweather" panose="00000500000000000000" pitchFamily="2" charset="0"/>
            </a:endParaRPr>
          </a:p>
        </p:txBody>
      </p:sp>
      <p:sp>
        <p:nvSpPr>
          <p:cNvPr id="8" name="TextBox 7">
            <a:extLst>
              <a:ext uri="{FF2B5EF4-FFF2-40B4-BE49-F238E27FC236}">
                <a16:creationId xmlns:a16="http://schemas.microsoft.com/office/drawing/2014/main" id="{4910B0FB-DFE5-A81E-DBBE-0008E013C208}"/>
              </a:ext>
            </a:extLst>
          </p:cNvPr>
          <p:cNvSpPr txBox="1"/>
          <p:nvPr/>
        </p:nvSpPr>
        <p:spPr>
          <a:xfrm>
            <a:off x="7705493" y="2342439"/>
            <a:ext cx="7315200" cy="2536720"/>
          </a:xfrm>
          <a:prstGeom prst="rect">
            <a:avLst/>
          </a:prstGeom>
          <a:noFill/>
        </p:spPr>
        <p:txBody>
          <a:bodyPr wrap="square">
            <a:spAutoFit/>
          </a:bodyPr>
          <a:lstStyle/>
          <a:p>
            <a:r>
              <a:rPr lang="en-IN" sz="2400" dirty="0">
                <a:solidFill>
                  <a:schemeClr val="bg1"/>
                </a:solidFill>
                <a:latin typeface="Merriweather" panose="00000500000000000000" pitchFamily="2" charset="0"/>
              </a:rPr>
              <a:t>Advantages</a:t>
            </a:r>
          </a:p>
          <a:p>
            <a:endParaRPr lang="en-IN" sz="1800" dirty="0">
              <a:solidFill>
                <a:schemeClr val="bg1"/>
              </a:solidFill>
              <a:latin typeface="Merriweather" panose="00000500000000000000" pitchFamily="2" charset="0"/>
            </a:endParaRPr>
          </a:p>
          <a:p>
            <a:pPr marL="342900" lvl="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Reduced Computational Complexity</a:t>
            </a:r>
            <a:endParaRPr lang="en-IN" sz="2000" b="1" dirty="0">
              <a:solidFill>
                <a:schemeClr val="bg1"/>
              </a:solidFill>
              <a:latin typeface="Merriweather" panose="00000500000000000000" pitchFamily="2" charset="0"/>
            </a:endParaRPr>
          </a:p>
          <a:p>
            <a:pPr marL="342900" lvl="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Lower Hardware Resource Consumption</a:t>
            </a:r>
            <a:endParaRPr lang="en-IN" sz="2000" b="1" dirty="0">
              <a:solidFill>
                <a:schemeClr val="bg1"/>
              </a:solidFill>
              <a:latin typeface="Merriweather" panose="00000500000000000000" pitchFamily="2" charset="0"/>
            </a:endParaRPr>
          </a:p>
          <a:p>
            <a:pPr marL="342900" lvl="0" indent="-342900">
              <a:lnSpc>
                <a:spcPct val="150000"/>
              </a:lnSpc>
              <a:buFont typeface="Wingdings" panose="05000000000000000000" pitchFamily="2" charset="2"/>
              <a:buChar char="Ø"/>
            </a:pPr>
            <a:r>
              <a:rPr lang="en-US" sz="2000" b="1" dirty="0">
                <a:solidFill>
                  <a:schemeClr val="bg1"/>
                </a:solidFill>
                <a:latin typeface="Merriweather" panose="00000500000000000000" pitchFamily="2" charset="0"/>
              </a:rPr>
              <a:t>Improved Power Efficiency</a:t>
            </a:r>
            <a:endParaRPr lang="en-IN" sz="2000" b="1" dirty="0">
              <a:solidFill>
                <a:schemeClr val="bg1"/>
              </a:solidFill>
              <a:latin typeface="Merriweather" panose="00000500000000000000" pitchFamily="2" charset="0"/>
            </a:endParaRPr>
          </a:p>
          <a:p>
            <a:pPr marL="342900" indent="-342900">
              <a:lnSpc>
                <a:spcPct val="150000"/>
              </a:lnSpc>
              <a:buFont typeface="Wingdings" panose="05000000000000000000" pitchFamily="2" charset="2"/>
              <a:buChar char="Ø"/>
            </a:pPr>
            <a:r>
              <a:rPr lang="en-US" sz="2000" dirty="0">
                <a:solidFill>
                  <a:schemeClr val="bg1"/>
                </a:solidFill>
                <a:latin typeface="Merriweather" panose="00000500000000000000" pitchFamily="2" charset="0"/>
              </a:rPr>
              <a:t>Enhanced Processing Speed </a:t>
            </a:r>
          </a:p>
        </p:txBody>
      </p:sp>
    </p:spTree>
    <p:extLst>
      <p:ext uri="{BB962C8B-B14F-4D97-AF65-F5344CB8AC3E}">
        <p14:creationId xmlns:p14="http://schemas.microsoft.com/office/powerpoint/2010/main" val="4217616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18B059-4FC5-C335-FA44-57DF1F8AF3EF}"/>
              </a:ext>
            </a:extLst>
          </p:cNvPr>
          <p:cNvSpPr txBox="1"/>
          <p:nvPr/>
        </p:nvSpPr>
        <p:spPr>
          <a:xfrm>
            <a:off x="3166946" y="96816"/>
            <a:ext cx="9054791" cy="1360757"/>
          </a:xfrm>
          <a:prstGeom prst="rect">
            <a:avLst/>
          </a:prstGeom>
          <a:noFill/>
        </p:spPr>
        <p:txBody>
          <a:bodyPr wrap="square">
            <a:spAutoFit/>
          </a:bodyPr>
          <a:lstStyle/>
          <a:p>
            <a:pPr>
              <a:lnSpc>
                <a:spcPct val="200000"/>
              </a:lnSpc>
            </a:pPr>
            <a:r>
              <a:rPr lang="en-US" sz="4800" dirty="0">
                <a:solidFill>
                  <a:srgbClr val="E2E6E9"/>
                </a:solidFill>
                <a:latin typeface="Merriweather" pitchFamily="34" charset="0"/>
              </a:rPr>
              <a:t>Status of Project Publication </a:t>
            </a:r>
          </a:p>
        </p:txBody>
      </p:sp>
      <p:sp>
        <p:nvSpPr>
          <p:cNvPr id="5" name="TextBox 4">
            <a:extLst>
              <a:ext uri="{FF2B5EF4-FFF2-40B4-BE49-F238E27FC236}">
                <a16:creationId xmlns:a16="http://schemas.microsoft.com/office/drawing/2014/main" id="{CA8FB4EF-C0D6-6167-F724-156A891D9DAC}"/>
              </a:ext>
            </a:extLst>
          </p:cNvPr>
          <p:cNvSpPr txBox="1"/>
          <p:nvPr/>
        </p:nvSpPr>
        <p:spPr>
          <a:xfrm>
            <a:off x="1081667" y="1517015"/>
            <a:ext cx="13035777" cy="707886"/>
          </a:xfrm>
          <a:prstGeom prst="rect">
            <a:avLst/>
          </a:prstGeom>
          <a:noFill/>
        </p:spPr>
        <p:txBody>
          <a:bodyPr wrap="square">
            <a:spAutoFit/>
          </a:bodyPr>
          <a:lstStyle/>
          <a:p>
            <a:pPr marL="285750" indent="-285750">
              <a:buFont typeface="Wingdings" panose="05000000000000000000" pitchFamily="2" charset="2"/>
              <a:buChar char="Ø"/>
            </a:pPr>
            <a:r>
              <a:rPr lang="en-US" sz="2000" dirty="0">
                <a:solidFill>
                  <a:schemeClr val="bg1"/>
                </a:solidFill>
                <a:latin typeface="Merriweather" panose="00000500000000000000" pitchFamily="2" charset="0"/>
              </a:rPr>
              <a:t>The research paper based on this project has been successfully submitted to </a:t>
            </a:r>
            <a:r>
              <a:rPr lang="en-US" sz="2000" dirty="0" err="1">
                <a:solidFill>
                  <a:schemeClr val="bg1"/>
                </a:solidFill>
                <a:latin typeface="Merriweather" panose="00000500000000000000" pitchFamily="2" charset="0"/>
              </a:rPr>
              <a:t>i</a:t>
            </a:r>
            <a:r>
              <a:rPr lang="en-US" sz="2000" dirty="0">
                <a:solidFill>
                  <a:schemeClr val="bg1"/>
                </a:solidFill>
                <a:latin typeface="Merriweather" panose="00000500000000000000" pitchFamily="2" charset="0"/>
              </a:rPr>
              <a:t>-Manager Publications and is currently under the review stage.</a:t>
            </a:r>
            <a:endParaRPr lang="en-IN" sz="1900" dirty="0">
              <a:solidFill>
                <a:schemeClr val="bg1"/>
              </a:solidFill>
              <a:latin typeface="Merriweather" panose="00000500000000000000" pitchFamily="2" charset="0"/>
            </a:endParaRPr>
          </a:p>
        </p:txBody>
      </p:sp>
      <p:pic>
        <p:nvPicPr>
          <p:cNvPr id="6" name="Picture 5">
            <a:extLst>
              <a:ext uri="{FF2B5EF4-FFF2-40B4-BE49-F238E27FC236}">
                <a16:creationId xmlns:a16="http://schemas.microsoft.com/office/drawing/2014/main" id="{3BEF0A66-76E7-987C-4821-59A1A2E17107}"/>
              </a:ext>
            </a:extLst>
          </p:cNvPr>
          <p:cNvPicPr>
            <a:picLocks noChangeAspect="1"/>
          </p:cNvPicPr>
          <p:nvPr/>
        </p:nvPicPr>
        <p:blipFill>
          <a:blip r:embed="rId2"/>
          <a:stretch>
            <a:fillRect/>
          </a:stretch>
        </p:blipFill>
        <p:spPr>
          <a:xfrm>
            <a:off x="1081667" y="2464420"/>
            <a:ext cx="12486542" cy="4909851"/>
          </a:xfrm>
          <a:prstGeom prst="rect">
            <a:avLst/>
          </a:prstGeom>
        </p:spPr>
      </p:pic>
    </p:spTree>
    <p:extLst>
      <p:ext uri="{BB962C8B-B14F-4D97-AF65-F5344CB8AC3E}">
        <p14:creationId xmlns:p14="http://schemas.microsoft.com/office/powerpoint/2010/main" val="2827641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B7FEC2-9566-DE84-561B-8547F48AB376}"/>
              </a:ext>
            </a:extLst>
          </p:cNvPr>
          <p:cNvSpPr txBox="1"/>
          <p:nvPr/>
        </p:nvSpPr>
        <p:spPr>
          <a:xfrm>
            <a:off x="3470988" y="-56148"/>
            <a:ext cx="9498564" cy="1375505"/>
          </a:xfrm>
          <a:prstGeom prst="rect">
            <a:avLst/>
          </a:prstGeom>
          <a:noFill/>
        </p:spPr>
        <p:txBody>
          <a:bodyPr wrap="square">
            <a:spAutoFit/>
          </a:bodyPr>
          <a:lstStyle/>
          <a:p>
            <a:pPr>
              <a:lnSpc>
                <a:spcPct val="200000"/>
              </a:lnSpc>
            </a:pPr>
            <a:r>
              <a:rPr lang="en-US" sz="4856" dirty="0">
                <a:solidFill>
                  <a:srgbClr val="E2E6E9"/>
                </a:solidFill>
                <a:latin typeface="Merriweather" pitchFamily="34" charset="0"/>
              </a:rPr>
              <a:t>Conclusion &amp; Future Scope</a:t>
            </a:r>
          </a:p>
        </p:txBody>
      </p:sp>
      <p:sp>
        <p:nvSpPr>
          <p:cNvPr id="4" name="TextBox 3">
            <a:extLst>
              <a:ext uri="{FF2B5EF4-FFF2-40B4-BE49-F238E27FC236}">
                <a16:creationId xmlns:a16="http://schemas.microsoft.com/office/drawing/2014/main" id="{4EB67550-815D-03C3-BF35-3EB591CD6BC2}"/>
              </a:ext>
            </a:extLst>
          </p:cNvPr>
          <p:cNvSpPr txBox="1"/>
          <p:nvPr/>
        </p:nvSpPr>
        <p:spPr>
          <a:xfrm>
            <a:off x="646771" y="1031739"/>
            <a:ext cx="13414918" cy="7014869"/>
          </a:xfrm>
          <a:prstGeom prst="rect">
            <a:avLst/>
          </a:prstGeom>
          <a:noFill/>
        </p:spPr>
        <p:txBody>
          <a:bodyPr wrap="square" rtlCol="0">
            <a:spAutoFit/>
          </a:bodyPr>
          <a:lstStyle/>
          <a:p>
            <a:pPr algn="just">
              <a:lnSpc>
                <a:spcPct val="150000"/>
              </a:lnSpc>
            </a:pPr>
            <a:r>
              <a:rPr lang="en-US" sz="2400" dirty="0">
                <a:solidFill>
                  <a:schemeClr val="bg1"/>
                </a:solidFill>
                <a:latin typeface="Merriweather" panose="00000500000000000000" pitchFamily="2" charset="0"/>
              </a:rPr>
              <a:t>Conclusion:</a:t>
            </a:r>
          </a:p>
          <a:p>
            <a:pPr algn="just">
              <a:lnSpc>
                <a:spcPct val="150000"/>
              </a:lnSpc>
            </a:pPr>
            <a:r>
              <a:rPr lang="en-US" dirty="0">
                <a:solidFill>
                  <a:schemeClr val="bg1"/>
                </a:solidFill>
                <a:latin typeface="Merriweather" panose="00000500000000000000" pitchFamily="2" charset="0"/>
              </a:rPr>
              <a:t>The Fast Fourier Transform (FFT) plays a crucial role in digital signal processing and communication systems, but traditional implementations can be resource-intensive. This brief presents a novel low-power, low-complexity FFT architecture that leverages an innovative input grouping method to minimize multiplications involving inputs and FFT twiddle factors. Additionally, a partial sum sharing scheme is introduced to efficiently reuse hardware resources, significantly lowering adder costs. Logic synthesis results on ASIC demonstrate the effectiveness of the proposed 32-point FFT architecture, showcasing reduced hardware complexity and power consumption while maintaining performance. The approach offers significant advantages for applications in communication systems, embedded devices, and other resource-constrained environments</a:t>
            </a:r>
          </a:p>
          <a:p>
            <a:pPr algn="just">
              <a:lnSpc>
                <a:spcPct val="150000"/>
              </a:lnSpc>
            </a:pPr>
            <a:endParaRPr lang="en-US" dirty="0">
              <a:solidFill>
                <a:schemeClr val="bg1"/>
              </a:solidFill>
              <a:latin typeface="Merriweather" panose="00000500000000000000" pitchFamily="2" charset="0"/>
            </a:endParaRPr>
          </a:p>
          <a:p>
            <a:pPr algn="just">
              <a:lnSpc>
                <a:spcPct val="150000"/>
              </a:lnSpc>
            </a:pPr>
            <a:r>
              <a:rPr lang="en-US" sz="2400" dirty="0">
                <a:solidFill>
                  <a:schemeClr val="bg1"/>
                </a:solidFill>
                <a:latin typeface="Merriweather" panose="00000500000000000000" pitchFamily="2" charset="0"/>
              </a:rPr>
              <a:t>Future Scope</a:t>
            </a:r>
            <a:r>
              <a:rPr lang="en-IN" sz="2400" dirty="0">
                <a:solidFill>
                  <a:schemeClr val="bg1"/>
                </a:solidFill>
                <a:latin typeface="Merriweather" panose="00000500000000000000" pitchFamily="2" charset="0"/>
              </a:rPr>
              <a:t>:</a:t>
            </a:r>
          </a:p>
          <a:p>
            <a:pPr algn="just">
              <a:lnSpc>
                <a:spcPct val="150000"/>
              </a:lnSpc>
            </a:pPr>
            <a:r>
              <a:rPr lang="en-US" dirty="0">
                <a:solidFill>
                  <a:schemeClr val="bg1"/>
                </a:solidFill>
                <a:latin typeface="Merriweather" panose="00000500000000000000" pitchFamily="2" charset="0"/>
              </a:rPr>
              <a:t>The current project focuses on the design of a low-complexity FFT architecture at the hardware level, and in future, this work can be extended to develop real-time application-level systems by integrating the proposed FFT architecture into practical applications such as wireless communication, signal processing, FPGA-based embedded systems, IoT devices, and multimedia processing systems.</a:t>
            </a:r>
            <a:endParaRPr lang="en-IN" dirty="0">
              <a:solidFill>
                <a:schemeClr val="bg1"/>
              </a:solidFill>
              <a:latin typeface="Merriweather" panose="00000500000000000000" pitchFamily="2" charset="0"/>
            </a:endParaRPr>
          </a:p>
          <a:p>
            <a:pPr algn="just">
              <a:lnSpc>
                <a:spcPct val="150000"/>
              </a:lnSpc>
            </a:pPr>
            <a:endParaRPr lang="en-IN" sz="2000" dirty="0">
              <a:solidFill>
                <a:schemeClr val="bg1"/>
              </a:solidFill>
              <a:latin typeface="Merriweather" panose="00000500000000000000" pitchFamily="2" charset="0"/>
            </a:endParaRPr>
          </a:p>
        </p:txBody>
      </p:sp>
    </p:spTree>
    <p:extLst>
      <p:ext uri="{BB962C8B-B14F-4D97-AF65-F5344CB8AC3E}">
        <p14:creationId xmlns:p14="http://schemas.microsoft.com/office/powerpoint/2010/main" val="1611912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4229814" y="159048"/>
            <a:ext cx="6170771" cy="771287"/>
          </a:xfrm>
          <a:prstGeom prst="rect">
            <a:avLst/>
          </a:prstGeom>
          <a:noFill/>
          <a:ln/>
        </p:spPr>
        <p:txBody>
          <a:bodyPr wrap="none" lIns="0" tIns="0" rIns="0" bIns="0" rtlCol="0" anchor="t"/>
          <a:lstStyle/>
          <a:p>
            <a:pPr marL="0" indent="0" algn="ctr">
              <a:lnSpc>
                <a:spcPts val="6050"/>
              </a:lnSpc>
              <a:buNone/>
            </a:pPr>
            <a:r>
              <a:rPr lang="en-US" sz="4850" dirty="0">
                <a:solidFill>
                  <a:srgbClr val="F5F0F0"/>
                </a:solidFill>
                <a:latin typeface="Merriweather" pitchFamily="34" charset="0"/>
                <a:ea typeface="Merriweather" pitchFamily="34" charset="-122"/>
                <a:cs typeface="Merriweather" pitchFamily="34" charset="-120"/>
              </a:rPr>
              <a:t>References</a:t>
            </a:r>
            <a:endParaRPr lang="en-US" sz="4850" dirty="0"/>
          </a:p>
        </p:txBody>
      </p:sp>
      <p:sp>
        <p:nvSpPr>
          <p:cNvPr id="3" name="Text 1"/>
          <p:cNvSpPr/>
          <p:nvPr/>
        </p:nvSpPr>
        <p:spPr>
          <a:xfrm>
            <a:off x="863796" y="1133231"/>
            <a:ext cx="12902803" cy="5958945"/>
          </a:xfrm>
          <a:prstGeom prst="rect">
            <a:avLst/>
          </a:prstGeom>
          <a:noFill/>
          <a:ln/>
        </p:spPr>
        <p:txBody>
          <a:bodyPr wrap="square" lIns="0" tIns="0" rIns="0" bIns="0" rtlCol="0" anchor="t"/>
          <a:lstStyle/>
          <a:p>
            <a:pPr marL="342900" indent="-342900" algn="just">
              <a:lnSpc>
                <a:spcPct val="200000"/>
              </a:lnSpc>
              <a:buSzPct val="100000"/>
              <a:buChar char="•"/>
            </a:pPr>
            <a:r>
              <a:rPr lang="en-US" sz="1900" dirty="0">
                <a:solidFill>
                  <a:srgbClr val="E2E6E9"/>
                </a:solidFill>
                <a:latin typeface="Merriweather" pitchFamily="34" charset="0"/>
                <a:ea typeface="Merriweather" pitchFamily="34" charset="-122"/>
                <a:cs typeface="Merriweather" pitchFamily="34" charset="-120"/>
              </a:rPr>
              <a:t>S. Wang and J. Chen, “A new input grouping and sharing method to design low complexity FFT implementation,” IEEE Transactions on Circuits and Systems Feb. 2024</a:t>
            </a:r>
          </a:p>
          <a:p>
            <a:pPr marL="342900" indent="-342900" algn="just">
              <a:lnSpc>
                <a:spcPct val="200000"/>
              </a:lnSpc>
              <a:buSzPct val="100000"/>
              <a:buChar char="•"/>
            </a:pPr>
            <a:r>
              <a:rPr lang="en-US" sz="1900" dirty="0">
                <a:solidFill>
                  <a:srgbClr val="E2E6E9"/>
                </a:solidFill>
                <a:latin typeface="Merriweather" pitchFamily="34" charset="0"/>
                <a:ea typeface="Merriweather" pitchFamily="34" charset="-122"/>
                <a:cs typeface="Merriweather" pitchFamily="34" charset="-120"/>
              </a:rPr>
              <a:t>P. K. </a:t>
            </a:r>
            <a:r>
              <a:rPr lang="en-US" sz="1900" dirty="0" err="1">
                <a:solidFill>
                  <a:srgbClr val="E2E6E9"/>
                </a:solidFill>
                <a:latin typeface="Merriweather" pitchFamily="34" charset="0"/>
                <a:ea typeface="Merriweather" pitchFamily="34" charset="-122"/>
                <a:cs typeface="Merriweather" pitchFamily="34" charset="-120"/>
              </a:rPr>
              <a:t>Daram</a:t>
            </a:r>
            <a:r>
              <a:rPr lang="en-US" sz="1900" dirty="0">
                <a:solidFill>
                  <a:srgbClr val="E2E6E9"/>
                </a:solidFill>
                <a:latin typeface="Merriweather" pitchFamily="34" charset="0"/>
                <a:ea typeface="Merriweather" pitchFamily="34" charset="-122"/>
                <a:cs typeface="Merriweather" pitchFamily="34" charset="-120"/>
              </a:rPr>
              <a:t> and C.-I. H. Chen, “Smart FFT measurement for reconfigurable sensor using a wideband digital receiver,” in Proc. IEEE Nat. </a:t>
            </a:r>
            <a:r>
              <a:rPr lang="en-US" sz="1900" dirty="0" err="1">
                <a:solidFill>
                  <a:srgbClr val="E2E6E9"/>
                </a:solidFill>
                <a:latin typeface="Merriweather" pitchFamily="34" charset="0"/>
                <a:ea typeface="Merriweather" pitchFamily="34" charset="-122"/>
                <a:cs typeface="Merriweather" pitchFamily="34" charset="-120"/>
              </a:rPr>
              <a:t>Aerosp</a:t>
            </a:r>
            <a:r>
              <a:rPr lang="en-US" sz="1900" dirty="0">
                <a:solidFill>
                  <a:srgbClr val="E2E6E9"/>
                </a:solidFill>
                <a:latin typeface="Merriweather" pitchFamily="34" charset="0"/>
                <a:ea typeface="Merriweather" pitchFamily="34" charset="-122"/>
                <a:cs typeface="Merriweather" pitchFamily="34" charset="-120"/>
              </a:rPr>
              <a:t>. Electron. Conf., Aug. 2021, pp. 200–203</a:t>
            </a:r>
          </a:p>
          <a:p>
            <a:pPr marL="342900" indent="-342900" algn="just">
              <a:lnSpc>
                <a:spcPct val="200000"/>
              </a:lnSpc>
              <a:buSzPct val="100000"/>
              <a:buFontTx/>
              <a:buChar char="•"/>
            </a:pPr>
            <a:r>
              <a:rPr lang="en-US" sz="1900" dirty="0">
                <a:solidFill>
                  <a:srgbClr val="E2E6E9"/>
                </a:solidFill>
                <a:latin typeface="Merriweather" pitchFamily="34" charset="0"/>
                <a:ea typeface="Merriweather" pitchFamily="34" charset="-122"/>
                <a:cs typeface="Merriweather" pitchFamily="34" charset="-120"/>
              </a:rPr>
              <a:t>N. Lei and X. Gu, “FFT-OT: A fast algorithm for optimal transportation,” in Proc. IEEE/CVF ICCV, Oct. 2021, pp. 6260–6269</a:t>
            </a:r>
          </a:p>
        </p:txBody>
      </p:sp>
      <p:sp>
        <p:nvSpPr>
          <p:cNvPr id="5" name="Text 3"/>
          <p:cNvSpPr/>
          <p:nvPr/>
        </p:nvSpPr>
        <p:spPr>
          <a:xfrm>
            <a:off x="863794" y="4798608"/>
            <a:ext cx="12902803" cy="394811"/>
          </a:xfrm>
          <a:prstGeom prst="rect">
            <a:avLst/>
          </a:prstGeom>
          <a:noFill/>
          <a:ln/>
        </p:spPr>
        <p:txBody>
          <a:bodyPr wrap="none" lIns="0" tIns="0" rIns="0" bIns="0" rtlCol="0" anchor="t"/>
          <a:lstStyle/>
          <a:p>
            <a:pPr marL="342900" indent="-342900" algn="l">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Documentation:</a:t>
            </a:r>
            <a:r>
              <a:rPr lang="en-US" sz="1900" dirty="0">
                <a:solidFill>
                  <a:srgbClr val="E2E6E9"/>
                </a:solidFill>
                <a:latin typeface="Merriweather" pitchFamily="34" charset="0"/>
                <a:ea typeface="Merriweather" pitchFamily="34" charset="-122"/>
                <a:cs typeface="Merriweather" pitchFamily="34" charset="-120"/>
              </a:rPr>
              <a:t> Xilinx Vivado User Guide.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1209</TotalTime>
  <Words>1727</Words>
  <Application>Microsoft Office PowerPoint</Application>
  <PresentationFormat>Custom</PresentationFormat>
  <Paragraphs>197</Paragraphs>
  <Slides>24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Wingdings</vt:lpstr>
      <vt:lpstr>Arial</vt:lpstr>
      <vt:lpstr>Courier New</vt:lpstr>
      <vt:lpstr>Merriweather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venu vaddimukkala</cp:lastModifiedBy>
  <cp:revision>12</cp:revision>
  <dcterms:created xsi:type="dcterms:W3CDTF">2025-09-09T17:36:00Z</dcterms:created>
  <dcterms:modified xsi:type="dcterms:W3CDTF">2026-04-24T05:39:44Z</dcterms:modified>
</cp:coreProperties>
</file>